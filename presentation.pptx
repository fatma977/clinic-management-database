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8288000" cy="10287000"/>
  <p:notesSz cx="6858000" cy="9144000"/>
  <p:embeddedFontLst>
    <p:embeddedFont>
      <p:font typeface="Anton" pitchFamily="2" charset="0"/>
      <p:regular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Codec Pro" panose="020B0604020202020204" charset="0"/>
      <p:regular r:id="rId33"/>
    </p:embeddedFont>
    <p:embeddedFont>
      <p:font typeface="Codec Pro Bold" panose="020B0604020202020204" charset="0"/>
      <p:regular r:id="rId34"/>
    </p:embeddedFont>
    <p:embeddedFont>
      <p:font typeface="Open Sans" panose="020B0606030504020204" pitchFamily="34" charset="0"/>
      <p:regular r:id="rId35"/>
      <p:bold r:id="rId36"/>
      <p:italic r:id="rId37"/>
      <p:boldItalic r:id="rId38"/>
    </p:embeddedFont>
    <p:embeddedFont>
      <p:font typeface="Open Sans Bold" panose="020B0806030504020204" charset="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42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2.jpeg"/><Relationship Id="rId4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181930" y="-1424914"/>
            <a:ext cx="8483403" cy="11741734"/>
          </a:xfrm>
          <a:custGeom>
            <a:avLst/>
            <a:gdLst/>
            <a:ahLst/>
            <a:cxnLst/>
            <a:rect l="l" t="t" r="r" b="b"/>
            <a:pathLst>
              <a:path w="8483403" h="11741734">
                <a:moveTo>
                  <a:pt x="0" y="0"/>
                </a:moveTo>
                <a:lnTo>
                  <a:pt x="8483402" y="0"/>
                </a:lnTo>
                <a:lnTo>
                  <a:pt x="8483402" y="11741734"/>
                </a:lnTo>
                <a:lnTo>
                  <a:pt x="0" y="11741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301472" y="390504"/>
            <a:ext cx="10889488" cy="4908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786"/>
              </a:lnSpc>
            </a:pPr>
            <a:r>
              <a:rPr lang="en-US" sz="12178">
                <a:solidFill>
                  <a:srgbClr val="0C3877"/>
                </a:solidFill>
                <a:latin typeface="Anton"/>
                <a:ea typeface="Anton"/>
                <a:cs typeface="Anton"/>
                <a:sym typeface="Anton"/>
              </a:rPr>
              <a:t>CLINIC MANAGEMENT SYSTEM DATABASE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32091" y="5661220"/>
            <a:ext cx="10227209" cy="653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948"/>
              </a:lnSpc>
            </a:pPr>
            <a:r>
              <a:rPr lang="en-US" sz="3534" b="1" spc="367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PRESENTATION BY FATMA ELWARRAKY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265480" y="9218229"/>
            <a:ext cx="5022520" cy="1098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751" b="1" spc="13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FUNDAMENTAL OF DATABASE</a:t>
            </a:r>
          </a:p>
          <a:p>
            <a:pPr algn="l">
              <a:lnSpc>
                <a:spcPts val="2751"/>
              </a:lnSpc>
            </a:pPr>
            <a:r>
              <a:rPr lang="en-US" sz="2751" b="1" spc="13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CBIO 204</a:t>
            </a:r>
          </a:p>
          <a:p>
            <a:pPr algn="l">
              <a:lnSpc>
                <a:spcPts val="2751"/>
              </a:lnSpc>
            </a:pPr>
            <a:endParaRPr lang="en-US" sz="2751" b="1" spc="13">
              <a:solidFill>
                <a:srgbClr val="0C3877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887200" y="6478957"/>
            <a:ext cx="3831155" cy="653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948"/>
              </a:lnSpc>
            </a:pPr>
            <a:r>
              <a:rPr lang="en-US" sz="3534" b="1" spc="367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CAROL HANY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671176" y="7439724"/>
            <a:ext cx="4263201" cy="653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948"/>
              </a:lnSpc>
            </a:pPr>
            <a:r>
              <a:rPr lang="en-US" sz="3534" b="1" spc="367" dirty="0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MAYA SHAHIN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080885" y="0"/>
            <a:ext cx="6207115" cy="4114800"/>
          </a:xfrm>
          <a:custGeom>
            <a:avLst/>
            <a:gdLst/>
            <a:ahLst/>
            <a:cxnLst/>
            <a:rect l="l" t="t" r="r" b="b"/>
            <a:pathLst>
              <a:path w="6207115" h="4114800">
                <a:moveTo>
                  <a:pt x="620711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07115" y="0"/>
                </a:lnTo>
                <a:lnTo>
                  <a:pt x="6207115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5098" y="9258300"/>
            <a:ext cx="7315200" cy="1258824"/>
          </a:xfrm>
          <a:custGeom>
            <a:avLst/>
            <a:gdLst/>
            <a:ahLst/>
            <a:cxnLst/>
            <a:rect l="l" t="t" r="r" b="b"/>
            <a:pathLst>
              <a:path w="7315200" h="1258824">
                <a:moveTo>
                  <a:pt x="0" y="0"/>
                </a:moveTo>
                <a:lnTo>
                  <a:pt x="7315200" y="0"/>
                </a:lnTo>
                <a:lnTo>
                  <a:pt x="7315200" y="1258824"/>
                </a:lnTo>
                <a:lnTo>
                  <a:pt x="0" y="12588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74335" y="1914126"/>
            <a:ext cx="8834503" cy="2468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5990"/>
                </a:solidFill>
                <a:latin typeface="Anton"/>
                <a:ea typeface="Anton"/>
                <a:cs typeface="Anton"/>
                <a:sym typeface="Anton"/>
              </a:rPr>
              <a:t> PROJECT OVERVIEW</a:t>
            </a:r>
          </a:p>
          <a:p>
            <a:pPr algn="l">
              <a:lnSpc>
                <a:spcPts val="9561"/>
              </a:lnSpc>
            </a:pPr>
            <a:endParaRPr lang="en-US" sz="9106">
              <a:solidFill>
                <a:srgbClr val="00599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74335" y="3644552"/>
            <a:ext cx="11277604" cy="406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3"/>
              </a:lnSpc>
            </a:pPr>
            <a:r>
              <a:rPr lang="en-US" sz="3833" spc="19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What is this system?</a:t>
            </a:r>
          </a:p>
          <a:p>
            <a:pPr marL="827700" lvl="1" indent="-413850" algn="l">
              <a:lnSpc>
                <a:spcPts val="4523"/>
              </a:lnSpc>
              <a:buFont typeface="Arial"/>
              <a:buChar char="•"/>
            </a:pPr>
            <a:r>
              <a:rPr lang="en-US" sz="3833" spc="19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Database for a multi-department clinic</a:t>
            </a:r>
          </a:p>
          <a:p>
            <a:pPr marL="827700" lvl="1" indent="-413850" algn="l">
              <a:lnSpc>
                <a:spcPts val="4523"/>
              </a:lnSpc>
              <a:buFont typeface="Arial"/>
              <a:buChar char="•"/>
            </a:pPr>
            <a:r>
              <a:rPr lang="en-US" sz="3833" spc="19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Manages departments, clinics, doctors, patients</a:t>
            </a:r>
          </a:p>
          <a:p>
            <a:pPr marL="827700" lvl="1" indent="-413850" algn="l">
              <a:lnSpc>
                <a:spcPts val="4523"/>
              </a:lnSpc>
              <a:buFont typeface="Arial"/>
              <a:buChar char="•"/>
            </a:pPr>
            <a:r>
              <a:rPr lang="en-US" sz="3833" spc="19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Tracks appointments and medical history</a:t>
            </a:r>
          </a:p>
          <a:p>
            <a:pPr marL="827700" lvl="1" indent="-413850" algn="l">
              <a:lnSpc>
                <a:spcPts val="4523"/>
              </a:lnSpc>
              <a:buFont typeface="Arial"/>
              <a:buChar char="•"/>
            </a:pPr>
            <a:r>
              <a:rPr lang="en-US" sz="3833" spc="19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Handles scheduling and patient diagnoses</a:t>
            </a:r>
          </a:p>
          <a:p>
            <a:pPr algn="l">
              <a:lnSpc>
                <a:spcPts val="4523"/>
              </a:lnSpc>
            </a:pPr>
            <a:endParaRPr lang="en-US" sz="3833" spc="19">
              <a:solidFill>
                <a:srgbClr val="0C3877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" y="-7962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5098" y="9258300"/>
            <a:ext cx="7315200" cy="1258824"/>
          </a:xfrm>
          <a:custGeom>
            <a:avLst/>
            <a:gdLst/>
            <a:ahLst/>
            <a:cxnLst/>
            <a:rect l="l" t="t" r="r" b="b"/>
            <a:pathLst>
              <a:path w="7315200" h="1258824">
                <a:moveTo>
                  <a:pt x="0" y="0"/>
                </a:moveTo>
                <a:lnTo>
                  <a:pt x="7315200" y="0"/>
                </a:lnTo>
                <a:lnTo>
                  <a:pt x="7315200" y="1258824"/>
                </a:lnTo>
                <a:lnTo>
                  <a:pt x="0" y="12588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0972800" y="0"/>
            <a:ext cx="7315200" cy="1258824"/>
          </a:xfrm>
          <a:custGeom>
            <a:avLst/>
            <a:gdLst/>
            <a:ahLst/>
            <a:cxnLst/>
            <a:rect l="l" t="t" r="r" b="b"/>
            <a:pathLst>
              <a:path w="7315200" h="1258824">
                <a:moveTo>
                  <a:pt x="7315200" y="1258824"/>
                </a:moveTo>
                <a:lnTo>
                  <a:pt x="0" y="1258824"/>
                </a:lnTo>
                <a:lnTo>
                  <a:pt x="0" y="0"/>
                </a:lnTo>
                <a:lnTo>
                  <a:pt x="7315200" y="0"/>
                </a:lnTo>
                <a:lnTo>
                  <a:pt x="7315200" y="125882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61098" y="3600450"/>
            <a:ext cx="5054326" cy="991267"/>
            <a:chOff x="0" y="0"/>
            <a:chExt cx="1331181" cy="2610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31181" cy="261074"/>
            </a:xfrm>
            <a:custGeom>
              <a:avLst/>
              <a:gdLst/>
              <a:ahLst/>
              <a:cxnLst/>
              <a:rect l="l" t="t" r="r" b="b"/>
              <a:pathLst>
                <a:path w="1331181" h="261074">
                  <a:moveTo>
                    <a:pt x="39825" y="0"/>
                  </a:moveTo>
                  <a:lnTo>
                    <a:pt x="1291355" y="0"/>
                  </a:lnTo>
                  <a:cubicBezTo>
                    <a:pt x="1313350" y="0"/>
                    <a:pt x="1331181" y="17830"/>
                    <a:pt x="1331181" y="39825"/>
                  </a:cubicBezTo>
                  <a:lnTo>
                    <a:pt x="1331181" y="221249"/>
                  </a:lnTo>
                  <a:cubicBezTo>
                    <a:pt x="1331181" y="231812"/>
                    <a:pt x="1326985" y="241941"/>
                    <a:pt x="1319516" y="249410"/>
                  </a:cubicBezTo>
                  <a:cubicBezTo>
                    <a:pt x="1312047" y="256879"/>
                    <a:pt x="1301918" y="261074"/>
                    <a:pt x="1291355" y="261074"/>
                  </a:cubicBezTo>
                  <a:lnTo>
                    <a:pt x="39825" y="261074"/>
                  </a:lnTo>
                  <a:cubicBezTo>
                    <a:pt x="17830" y="261074"/>
                    <a:pt x="0" y="243244"/>
                    <a:pt x="0" y="221249"/>
                  </a:cubicBezTo>
                  <a:lnTo>
                    <a:pt x="0" y="39825"/>
                  </a:lnTo>
                  <a:cubicBezTo>
                    <a:pt x="0" y="17830"/>
                    <a:pt x="17830" y="0"/>
                    <a:pt x="39825" y="0"/>
                  </a:cubicBezTo>
                  <a:close/>
                </a:path>
              </a:pathLst>
            </a:custGeom>
            <a:solidFill>
              <a:srgbClr val="00599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31181" cy="29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16837" y="3706846"/>
            <a:ext cx="5054326" cy="991267"/>
            <a:chOff x="0" y="0"/>
            <a:chExt cx="1331181" cy="26107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31181" cy="261074"/>
            </a:xfrm>
            <a:custGeom>
              <a:avLst/>
              <a:gdLst/>
              <a:ahLst/>
              <a:cxnLst/>
              <a:rect l="l" t="t" r="r" b="b"/>
              <a:pathLst>
                <a:path w="1331181" h="261074">
                  <a:moveTo>
                    <a:pt x="39825" y="0"/>
                  </a:moveTo>
                  <a:lnTo>
                    <a:pt x="1291355" y="0"/>
                  </a:lnTo>
                  <a:cubicBezTo>
                    <a:pt x="1313350" y="0"/>
                    <a:pt x="1331181" y="17830"/>
                    <a:pt x="1331181" y="39825"/>
                  </a:cubicBezTo>
                  <a:lnTo>
                    <a:pt x="1331181" y="221249"/>
                  </a:lnTo>
                  <a:cubicBezTo>
                    <a:pt x="1331181" y="231812"/>
                    <a:pt x="1326985" y="241941"/>
                    <a:pt x="1319516" y="249410"/>
                  </a:cubicBezTo>
                  <a:cubicBezTo>
                    <a:pt x="1312047" y="256879"/>
                    <a:pt x="1301918" y="261074"/>
                    <a:pt x="1291355" y="261074"/>
                  </a:cubicBezTo>
                  <a:lnTo>
                    <a:pt x="39825" y="261074"/>
                  </a:lnTo>
                  <a:cubicBezTo>
                    <a:pt x="17830" y="261074"/>
                    <a:pt x="0" y="243244"/>
                    <a:pt x="0" y="221249"/>
                  </a:cubicBezTo>
                  <a:lnTo>
                    <a:pt x="0" y="39825"/>
                  </a:lnTo>
                  <a:cubicBezTo>
                    <a:pt x="0" y="17830"/>
                    <a:pt x="17830" y="0"/>
                    <a:pt x="39825" y="0"/>
                  </a:cubicBez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31181" cy="29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172575" y="3813242"/>
            <a:ext cx="5054326" cy="991267"/>
            <a:chOff x="0" y="0"/>
            <a:chExt cx="1331181" cy="26107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31181" cy="261074"/>
            </a:xfrm>
            <a:custGeom>
              <a:avLst/>
              <a:gdLst/>
              <a:ahLst/>
              <a:cxnLst/>
              <a:rect l="l" t="t" r="r" b="b"/>
              <a:pathLst>
                <a:path w="1331181" h="261074">
                  <a:moveTo>
                    <a:pt x="39825" y="0"/>
                  </a:moveTo>
                  <a:lnTo>
                    <a:pt x="1291355" y="0"/>
                  </a:lnTo>
                  <a:cubicBezTo>
                    <a:pt x="1313350" y="0"/>
                    <a:pt x="1331181" y="17830"/>
                    <a:pt x="1331181" y="39825"/>
                  </a:cubicBezTo>
                  <a:lnTo>
                    <a:pt x="1331181" y="221249"/>
                  </a:lnTo>
                  <a:cubicBezTo>
                    <a:pt x="1331181" y="231812"/>
                    <a:pt x="1326985" y="241941"/>
                    <a:pt x="1319516" y="249410"/>
                  </a:cubicBezTo>
                  <a:cubicBezTo>
                    <a:pt x="1312047" y="256879"/>
                    <a:pt x="1301918" y="261074"/>
                    <a:pt x="1291355" y="261074"/>
                  </a:cubicBezTo>
                  <a:lnTo>
                    <a:pt x="39825" y="261074"/>
                  </a:lnTo>
                  <a:cubicBezTo>
                    <a:pt x="17830" y="261074"/>
                    <a:pt x="0" y="243244"/>
                    <a:pt x="0" y="221249"/>
                  </a:cubicBezTo>
                  <a:lnTo>
                    <a:pt x="0" y="39825"/>
                  </a:lnTo>
                  <a:cubicBezTo>
                    <a:pt x="0" y="17830"/>
                    <a:pt x="17830" y="0"/>
                    <a:pt x="39825" y="0"/>
                  </a:cubicBezTo>
                  <a:close/>
                </a:path>
              </a:pathLst>
            </a:custGeom>
            <a:solidFill>
              <a:srgbClr val="00599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31181" cy="29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891382" y="4910905"/>
            <a:ext cx="5054326" cy="991267"/>
            <a:chOff x="0" y="0"/>
            <a:chExt cx="1331181" cy="26107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31181" cy="261074"/>
            </a:xfrm>
            <a:custGeom>
              <a:avLst/>
              <a:gdLst/>
              <a:ahLst/>
              <a:cxnLst/>
              <a:rect l="l" t="t" r="r" b="b"/>
              <a:pathLst>
                <a:path w="1331181" h="261074">
                  <a:moveTo>
                    <a:pt x="39825" y="0"/>
                  </a:moveTo>
                  <a:lnTo>
                    <a:pt x="1291355" y="0"/>
                  </a:lnTo>
                  <a:cubicBezTo>
                    <a:pt x="1313350" y="0"/>
                    <a:pt x="1331181" y="17830"/>
                    <a:pt x="1331181" y="39825"/>
                  </a:cubicBezTo>
                  <a:lnTo>
                    <a:pt x="1331181" y="221249"/>
                  </a:lnTo>
                  <a:cubicBezTo>
                    <a:pt x="1331181" y="231812"/>
                    <a:pt x="1326985" y="241941"/>
                    <a:pt x="1319516" y="249410"/>
                  </a:cubicBezTo>
                  <a:cubicBezTo>
                    <a:pt x="1312047" y="256879"/>
                    <a:pt x="1301918" y="261074"/>
                    <a:pt x="1291355" y="261074"/>
                  </a:cubicBezTo>
                  <a:lnTo>
                    <a:pt x="39825" y="261074"/>
                  </a:lnTo>
                  <a:cubicBezTo>
                    <a:pt x="17830" y="261074"/>
                    <a:pt x="0" y="243244"/>
                    <a:pt x="0" y="221249"/>
                  </a:cubicBezTo>
                  <a:lnTo>
                    <a:pt x="0" y="39825"/>
                  </a:lnTo>
                  <a:cubicBezTo>
                    <a:pt x="0" y="17830"/>
                    <a:pt x="17830" y="0"/>
                    <a:pt x="39825" y="0"/>
                  </a:cubicBezTo>
                  <a:close/>
                </a:path>
              </a:pathLst>
            </a:custGeom>
            <a:solidFill>
              <a:srgbClr val="00599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331181" cy="29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407412" y="4910905"/>
            <a:ext cx="5054326" cy="991267"/>
            <a:chOff x="0" y="0"/>
            <a:chExt cx="1331181" cy="26107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31181" cy="261074"/>
            </a:xfrm>
            <a:custGeom>
              <a:avLst/>
              <a:gdLst/>
              <a:ahLst/>
              <a:cxnLst/>
              <a:rect l="l" t="t" r="r" b="b"/>
              <a:pathLst>
                <a:path w="1331181" h="261074">
                  <a:moveTo>
                    <a:pt x="39825" y="0"/>
                  </a:moveTo>
                  <a:lnTo>
                    <a:pt x="1291355" y="0"/>
                  </a:lnTo>
                  <a:cubicBezTo>
                    <a:pt x="1313350" y="0"/>
                    <a:pt x="1331181" y="17830"/>
                    <a:pt x="1331181" y="39825"/>
                  </a:cubicBezTo>
                  <a:lnTo>
                    <a:pt x="1331181" y="221249"/>
                  </a:lnTo>
                  <a:cubicBezTo>
                    <a:pt x="1331181" y="231812"/>
                    <a:pt x="1326985" y="241941"/>
                    <a:pt x="1319516" y="249410"/>
                  </a:cubicBezTo>
                  <a:cubicBezTo>
                    <a:pt x="1312047" y="256879"/>
                    <a:pt x="1301918" y="261074"/>
                    <a:pt x="1291355" y="261074"/>
                  </a:cubicBezTo>
                  <a:lnTo>
                    <a:pt x="39825" y="261074"/>
                  </a:lnTo>
                  <a:cubicBezTo>
                    <a:pt x="17830" y="261074"/>
                    <a:pt x="0" y="243244"/>
                    <a:pt x="0" y="221249"/>
                  </a:cubicBezTo>
                  <a:lnTo>
                    <a:pt x="0" y="39825"/>
                  </a:lnTo>
                  <a:cubicBezTo>
                    <a:pt x="0" y="17830"/>
                    <a:pt x="17830" y="0"/>
                    <a:pt x="39825" y="0"/>
                  </a:cubicBez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331181" cy="299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171019" y="1915087"/>
            <a:ext cx="5945962" cy="2468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61"/>
              </a:lnSpc>
            </a:pPr>
            <a:r>
              <a:rPr lang="en-US" sz="9106">
                <a:solidFill>
                  <a:srgbClr val="005990"/>
                </a:solidFill>
                <a:latin typeface="Anton"/>
                <a:ea typeface="Anton"/>
                <a:cs typeface="Anton"/>
                <a:sym typeface="Anton"/>
              </a:rPr>
              <a:t>ENTITIES</a:t>
            </a:r>
          </a:p>
          <a:p>
            <a:pPr algn="ctr">
              <a:lnSpc>
                <a:spcPts val="9561"/>
              </a:lnSpc>
            </a:pPr>
            <a:endParaRPr lang="en-US" sz="9106">
              <a:solidFill>
                <a:srgbClr val="00599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690477" y="3746567"/>
            <a:ext cx="3728067" cy="61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736" b="1" spc="18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Department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49235" y="3862488"/>
            <a:ext cx="5054326" cy="61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736" b="1" spc="18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Clinic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934575" y="3937268"/>
            <a:ext cx="3728067" cy="61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736" b="1" spc="18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Doctor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554511" y="5068418"/>
            <a:ext cx="3728067" cy="61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736" b="1" spc="18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Patient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407412" y="5086350"/>
            <a:ext cx="5054326" cy="61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736" b="1" spc="18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Appointment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2926" y="7594147"/>
            <a:ext cx="3074523" cy="3328306"/>
          </a:xfrm>
          <a:custGeom>
            <a:avLst/>
            <a:gdLst/>
            <a:ahLst/>
            <a:cxnLst/>
            <a:rect l="l" t="t" r="r" b="b"/>
            <a:pathLst>
              <a:path w="3074523" h="3328306">
                <a:moveTo>
                  <a:pt x="0" y="0"/>
                </a:moveTo>
                <a:lnTo>
                  <a:pt x="3074523" y="0"/>
                </a:lnTo>
                <a:lnTo>
                  <a:pt x="3074523" y="3328306"/>
                </a:lnTo>
                <a:lnTo>
                  <a:pt x="0" y="33283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65173" y="6463729"/>
            <a:ext cx="692481" cy="692481"/>
          </a:xfrm>
          <a:custGeom>
            <a:avLst/>
            <a:gdLst/>
            <a:ahLst/>
            <a:cxnLst/>
            <a:rect l="l" t="t" r="r" b="b"/>
            <a:pathLst>
              <a:path w="692481" h="692481">
                <a:moveTo>
                  <a:pt x="0" y="0"/>
                </a:moveTo>
                <a:lnTo>
                  <a:pt x="692481" y="0"/>
                </a:lnTo>
                <a:lnTo>
                  <a:pt x="692481" y="692481"/>
                </a:lnTo>
                <a:lnTo>
                  <a:pt x="0" y="6924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5213477" y="0"/>
            <a:ext cx="3074523" cy="3328306"/>
          </a:xfrm>
          <a:custGeom>
            <a:avLst/>
            <a:gdLst/>
            <a:ahLst/>
            <a:cxnLst/>
            <a:rect l="l" t="t" r="r" b="b"/>
            <a:pathLst>
              <a:path w="3074523" h="3328306">
                <a:moveTo>
                  <a:pt x="3074523" y="3328306"/>
                </a:moveTo>
                <a:lnTo>
                  <a:pt x="0" y="3328306"/>
                </a:lnTo>
                <a:lnTo>
                  <a:pt x="0" y="0"/>
                </a:lnTo>
                <a:lnTo>
                  <a:pt x="3074523" y="0"/>
                </a:lnTo>
                <a:lnTo>
                  <a:pt x="3074523" y="332830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921119" y="1943674"/>
            <a:ext cx="12338181" cy="7569676"/>
          </a:xfrm>
          <a:custGeom>
            <a:avLst/>
            <a:gdLst/>
            <a:ahLst/>
            <a:cxnLst/>
            <a:rect l="l" t="t" r="r" b="b"/>
            <a:pathLst>
              <a:path w="12338181" h="7569676">
                <a:moveTo>
                  <a:pt x="0" y="0"/>
                </a:moveTo>
                <a:lnTo>
                  <a:pt x="12338181" y="0"/>
                </a:lnTo>
                <a:lnTo>
                  <a:pt x="12338181" y="7569676"/>
                </a:lnTo>
                <a:lnTo>
                  <a:pt x="0" y="75696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01974" y="1204114"/>
            <a:ext cx="5679311" cy="2468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ER DIAGRAM</a:t>
            </a:r>
          </a:p>
          <a:p>
            <a:pPr algn="l">
              <a:lnSpc>
                <a:spcPts val="9561"/>
              </a:lnSpc>
            </a:pPr>
            <a:endParaRPr lang="en-US" sz="9106">
              <a:solidFill>
                <a:srgbClr val="0071B3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2926" y="7594147"/>
            <a:ext cx="3074523" cy="3328306"/>
          </a:xfrm>
          <a:custGeom>
            <a:avLst/>
            <a:gdLst/>
            <a:ahLst/>
            <a:cxnLst/>
            <a:rect l="l" t="t" r="r" b="b"/>
            <a:pathLst>
              <a:path w="3074523" h="3328306">
                <a:moveTo>
                  <a:pt x="0" y="0"/>
                </a:moveTo>
                <a:lnTo>
                  <a:pt x="3074523" y="0"/>
                </a:lnTo>
                <a:lnTo>
                  <a:pt x="3074523" y="3328306"/>
                </a:lnTo>
                <a:lnTo>
                  <a:pt x="0" y="33283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65173" y="6463729"/>
            <a:ext cx="692481" cy="692481"/>
          </a:xfrm>
          <a:custGeom>
            <a:avLst/>
            <a:gdLst/>
            <a:ahLst/>
            <a:cxnLst/>
            <a:rect l="l" t="t" r="r" b="b"/>
            <a:pathLst>
              <a:path w="692481" h="692481">
                <a:moveTo>
                  <a:pt x="0" y="0"/>
                </a:moveTo>
                <a:lnTo>
                  <a:pt x="692481" y="0"/>
                </a:lnTo>
                <a:lnTo>
                  <a:pt x="692481" y="692481"/>
                </a:lnTo>
                <a:lnTo>
                  <a:pt x="0" y="6924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537692" y="0"/>
            <a:ext cx="9721608" cy="10287000"/>
          </a:xfrm>
          <a:custGeom>
            <a:avLst/>
            <a:gdLst/>
            <a:ahLst/>
            <a:cxnLst/>
            <a:rect l="l" t="t" r="r" b="b"/>
            <a:pathLst>
              <a:path w="9721608" h="10287000">
                <a:moveTo>
                  <a:pt x="0" y="0"/>
                </a:moveTo>
                <a:lnTo>
                  <a:pt x="9721608" y="0"/>
                </a:lnTo>
                <a:lnTo>
                  <a:pt x="972160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5213477" y="0"/>
            <a:ext cx="3074523" cy="3328306"/>
          </a:xfrm>
          <a:custGeom>
            <a:avLst/>
            <a:gdLst/>
            <a:ahLst/>
            <a:cxnLst/>
            <a:rect l="l" t="t" r="r" b="b"/>
            <a:pathLst>
              <a:path w="3074523" h="3328306">
                <a:moveTo>
                  <a:pt x="3074523" y="3328306"/>
                </a:moveTo>
                <a:lnTo>
                  <a:pt x="0" y="3328306"/>
                </a:lnTo>
                <a:lnTo>
                  <a:pt x="0" y="0"/>
                </a:lnTo>
                <a:lnTo>
                  <a:pt x="3074523" y="0"/>
                </a:lnTo>
                <a:lnTo>
                  <a:pt x="3074523" y="332830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09187" y="978944"/>
            <a:ext cx="5679311" cy="3678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RELATIONAL SCHEMA</a:t>
            </a:r>
          </a:p>
          <a:p>
            <a:pPr algn="l">
              <a:lnSpc>
                <a:spcPts val="9561"/>
              </a:lnSpc>
            </a:pPr>
            <a:endParaRPr lang="en-US" sz="9106">
              <a:solidFill>
                <a:srgbClr val="0071B3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71122" y="7908442"/>
            <a:ext cx="4490914" cy="4114800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0" y="0"/>
                </a:moveTo>
                <a:lnTo>
                  <a:pt x="4490914" y="0"/>
                </a:lnTo>
                <a:lnTo>
                  <a:pt x="4490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22516" y="846110"/>
            <a:ext cx="11447053" cy="125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DDL</a:t>
            </a:r>
          </a:p>
        </p:txBody>
      </p:sp>
      <p:sp>
        <p:nvSpPr>
          <p:cNvPr id="5" name="Freeform 5"/>
          <p:cNvSpPr/>
          <p:nvPr/>
        </p:nvSpPr>
        <p:spPr>
          <a:xfrm flipH="1" flipV="1">
            <a:off x="14085445" y="-528284"/>
            <a:ext cx="4490914" cy="4114800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4490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90914" y="0"/>
                </a:lnTo>
                <a:lnTo>
                  <a:pt x="4490914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53164" y="3981577"/>
            <a:ext cx="8274422" cy="1161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6"/>
              </a:lnSpc>
            </a:pPr>
            <a:r>
              <a:rPr lang="en-US" sz="3700" spc="18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CREATE DATABASE clinc;</a:t>
            </a:r>
          </a:p>
          <a:p>
            <a:pPr algn="l">
              <a:lnSpc>
                <a:spcPts val="4366"/>
              </a:lnSpc>
            </a:pPr>
            <a:r>
              <a:rPr lang="en-US" sz="3700" spc="18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USE clinc;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3164" y="5651098"/>
            <a:ext cx="7966693" cy="2257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0"/>
              </a:lnSpc>
            </a:pPr>
            <a:r>
              <a:rPr lang="en-US" sz="3695" spc="18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CREATE TABLE Department (</a:t>
            </a:r>
          </a:p>
          <a:p>
            <a:pPr algn="l">
              <a:lnSpc>
                <a:spcPts val="4360"/>
              </a:lnSpc>
            </a:pPr>
            <a:r>
              <a:rPr lang="en-US" sz="3695" spc="18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 dept_id INT PRIMARY KEY,</a:t>
            </a:r>
          </a:p>
          <a:p>
            <a:pPr algn="l">
              <a:lnSpc>
                <a:spcPts val="4360"/>
              </a:lnSpc>
            </a:pPr>
            <a:r>
              <a:rPr lang="en-US" sz="3695" spc="18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 name VARCHAR(100) NOT NULL</a:t>
            </a:r>
          </a:p>
          <a:p>
            <a:pPr algn="l">
              <a:lnSpc>
                <a:spcPts val="4360"/>
              </a:lnSpc>
            </a:pPr>
            <a:r>
              <a:rPr lang="en-US" sz="3695" spc="18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);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3164" y="2799627"/>
            <a:ext cx="2844876" cy="786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96"/>
              </a:lnSpc>
            </a:pPr>
            <a:r>
              <a:rPr lang="en-US" sz="58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CODES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77609" y="4138966"/>
            <a:ext cx="8846871" cy="335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7878" lvl="1" indent="-398939" algn="l">
              <a:lnSpc>
                <a:spcPts val="4360"/>
              </a:lnSpc>
              <a:buFont typeface="Arial"/>
              <a:buChar char="•"/>
            </a:pPr>
            <a:r>
              <a:rPr lang="en-US" sz="3695" spc="18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DDL = Data Definition Language</a:t>
            </a:r>
          </a:p>
          <a:p>
            <a:pPr algn="l">
              <a:lnSpc>
                <a:spcPts val="4360"/>
              </a:lnSpc>
            </a:pPr>
            <a:endParaRPr lang="en-US" sz="3695" spc="18">
              <a:solidFill>
                <a:srgbClr val="00599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marL="797878" lvl="1" indent="-398939" algn="l">
              <a:lnSpc>
                <a:spcPts val="4360"/>
              </a:lnSpc>
              <a:buFont typeface="Arial"/>
              <a:buChar char="•"/>
            </a:pPr>
            <a:r>
              <a:rPr lang="en-US" sz="3695" spc="18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PRIMARY KEY ensures unique IDs</a:t>
            </a:r>
          </a:p>
          <a:p>
            <a:pPr algn="l">
              <a:lnSpc>
                <a:spcPts val="4360"/>
              </a:lnSpc>
            </a:pPr>
            <a:endParaRPr lang="en-US" sz="3695" spc="18">
              <a:solidFill>
                <a:srgbClr val="00599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marL="797878" lvl="1" indent="-398939" algn="l">
              <a:lnSpc>
                <a:spcPts val="4360"/>
              </a:lnSpc>
              <a:buFont typeface="Arial"/>
              <a:buChar char="•"/>
            </a:pPr>
            <a:r>
              <a:rPr lang="en-US" sz="3695" spc="18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NOT NULL prevents empty names</a:t>
            </a:r>
          </a:p>
          <a:p>
            <a:pPr algn="l">
              <a:lnSpc>
                <a:spcPts val="4360"/>
              </a:lnSpc>
            </a:pPr>
            <a:endParaRPr lang="en-US" sz="3695" spc="18">
              <a:solidFill>
                <a:srgbClr val="00599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727586" y="2799627"/>
            <a:ext cx="4073459" cy="786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96"/>
              </a:lnSpc>
            </a:pPr>
            <a:r>
              <a:rPr lang="en-US" sz="58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KEYPOINTS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917818" y="8229600"/>
            <a:ext cx="4490914" cy="4114800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0" y="0"/>
                </a:moveTo>
                <a:lnTo>
                  <a:pt x="4490914" y="0"/>
                </a:lnTo>
                <a:lnTo>
                  <a:pt x="4490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22516" y="846110"/>
            <a:ext cx="11447053" cy="125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DDL</a:t>
            </a:r>
          </a:p>
        </p:txBody>
      </p:sp>
      <p:sp>
        <p:nvSpPr>
          <p:cNvPr id="5" name="Freeform 5"/>
          <p:cNvSpPr/>
          <p:nvPr/>
        </p:nvSpPr>
        <p:spPr>
          <a:xfrm flipH="1" flipV="1">
            <a:off x="14415512" y="-785003"/>
            <a:ext cx="4490914" cy="4114800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4490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90914" y="0"/>
                </a:lnTo>
                <a:lnTo>
                  <a:pt x="4490914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53164" y="3834881"/>
            <a:ext cx="8274422" cy="1161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6"/>
              </a:lnSpc>
            </a:pPr>
            <a:r>
              <a:rPr lang="en-US" sz="3700" spc="18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FOREIGN KEY (dept_id)</a:t>
            </a:r>
          </a:p>
          <a:p>
            <a:pPr algn="l">
              <a:lnSpc>
                <a:spcPts val="4366"/>
              </a:lnSpc>
            </a:pPr>
            <a:r>
              <a:rPr lang="en-US" sz="3700" spc="18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REFERENCES Department(dept_id)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3164" y="5534025"/>
            <a:ext cx="7966693" cy="1157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0"/>
              </a:lnSpc>
            </a:pPr>
            <a:r>
              <a:rPr lang="en-US" sz="3695" spc="18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patient_id INT PRIMARY KEY AUTO_INCREMENT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3164" y="2514592"/>
            <a:ext cx="2844876" cy="786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96"/>
              </a:lnSpc>
            </a:pPr>
            <a:r>
              <a:rPr lang="en-US" sz="58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CODES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10237" y="3485068"/>
            <a:ext cx="9195275" cy="6107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7878" lvl="1" indent="-398939" algn="l">
              <a:lnSpc>
                <a:spcPts val="4360"/>
              </a:lnSpc>
              <a:buFont typeface="Arial"/>
              <a:buChar char="•"/>
            </a:pPr>
            <a:r>
              <a:rPr lang="en-US" sz="3695" spc="18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Foreign Keys create relationships</a:t>
            </a:r>
          </a:p>
          <a:p>
            <a:pPr algn="l">
              <a:lnSpc>
                <a:spcPts val="4360"/>
              </a:lnSpc>
            </a:pPr>
            <a:endParaRPr lang="en-US" sz="3695" spc="18">
              <a:solidFill>
                <a:srgbClr val="00599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marL="797878" lvl="1" indent="-398939" algn="l">
              <a:lnSpc>
                <a:spcPts val="4360"/>
              </a:lnSpc>
              <a:buFont typeface="Arial"/>
              <a:buChar char="•"/>
            </a:pPr>
            <a:r>
              <a:rPr lang="en-US" sz="3695" spc="18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AUTO_INCREMENT generates IDs automatically</a:t>
            </a:r>
          </a:p>
          <a:p>
            <a:pPr algn="l">
              <a:lnSpc>
                <a:spcPts val="4360"/>
              </a:lnSpc>
            </a:pPr>
            <a:endParaRPr lang="en-US" sz="3695" spc="18">
              <a:solidFill>
                <a:srgbClr val="00599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marL="797878" lvl="1" indent="-398939" algn="l">
              <a:lnSpc>
                <a:spcPts val="4360"/>
              </a:lnSpc>
              <a:buFont typeface="Arial"/>
              <a:buChar char="•"/>
            </a:pPr>
            <a:r>
              <a:rPr lang="en-US" sz="3695" spc="18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CHECK constraint limits status values</a:t>
            </a:r>
          </a:p>
          <a:p>
            <a:pPr algn="l">
              <a:lnSpc>
                <a:spcPts val="4360"/>
              </a:lnSpc>
            </a:pPr>
            <a:endParaRPr lang="en-US" sz="3695" spc="18">
              <a:solidFill>
                <a:srgbClr val="00599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marL="797878" lvl="1" indent="-398939" algn="l">
              <a:lnSpc>
                <a:spcPts val="4360"/>
              </a:lnSpc>
              <a:buFont typeface="Arial"/>
              <a:buChar char="•"/>
            </a:pPr>
            <a:r>
              <a:rPr lang="en-US" sz="3695" spc="18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Appointment table connects doctors &amp; patients</a:t>
            </a:r>
          </a:p>
          <a:p>
            <a:pPr algn="l">
              <a:lnSpc>
                <a:spcPts val="4360"/>
              </a:lnSpc>
            </a:pPr>
            <a:endParaRPr lang="en-US" sz="3695" spc="18">
              <a:solidFill>
                <a:srgbClr val="00599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534416" y="2514592"/>
            <a:ext cx="4073459" cy="786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96"/>
              </a:lnSpc>
            </a:pPr>
            <a:r>
              <a:rPr lang="en-US" sz="58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KEYPOINTS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3164" y="7081728"/>
            <a:ext cx="9488668" cy="1157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0"/>
              </a:lnSpc>
            </a:pPr>
            <a:r>
              <a:rPr lang="en-US" sz="3695" spc="18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CHECK (status IN</a:t>
            </a:r>
          </a:p>
          <a:p>
            <a:pPr algn="l">
              <a:lnSpc>
                <a:spcPts val="4360"/>
              </a:lnSpc>
            </a:pPr>
            <a:r>
              <a:rPr lang="en-US" sz="3695" spc="18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('scheduled','in progress','postponed'))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064515" y="8229600"/>
            <a:ext cx="4490914" cy="4114800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0" y="0"/>
                </a:moveTo>
                <a:lnTo>
                  <a:pt x="4490915" y="0"/>
                </a:lnTo>
                <a:lnTo>
                  <a:pt x="44909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74335" y="1652941"/>
            <a:ext cx="11447053" cy="125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DML</a:t>
            </a:r>
          </a:p>
        </p:txBody>
      </p:sp>
      <p:sp>
        <p:nvSpPr>
          <p:cNvPr id="5" name="Freeform 5"/>
          <p:cNvSpPr/>
          <p:nvPr/>
        </p:nvSpPr>
        <p:spPr>
          <a:xfrm flipH="1" flipV="1">
            <a:off x="14085445" y="-528284"/>
            <a:ext cx="4490914" cy="4114800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4490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90914" y="0"/>
                </a:lnTo>
                <a:lnTo>
                  <a:pt x="4490914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55953" y="3445790"/>
            <a:ext cx="12349248" cy="2266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7877" lvl="1" indent="-398939" algn="l">
              <a:lnSpc>
                <a:spcPts val="4360"/>
              </a:lnSpc>
              <a:buFont typeface="Arial"/>
              <a:buChar char="•"/>
            </a:pPr>
            <a:r>
              <a:rPr lang="en-US" sz="3695" spc="18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INSERT INTO Department VALUES ...</a:t>
            </a:r>
          </a:p>
          <a:p>
            <a:pPr marL="797877" lvl="1" indent="-398939" algn="l">
              <a:lnSpc>
                <a:spcPts val="4360"/>
              </a:lnSpc>
              <a:buFont typeface="Arial"/>
              <a:buChar char="•"/>
            </a:pPr>
            <a:r>
              <a:rPr lang="en-US" sz="3695" spc="18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INSERT INTO Clinic VALUES ...</a:t>
            </a:r>
          </a:p>
          <a:p>
            <a:pPr marL="797877" lvl="1" indent="-398939" algn="l">
              <a:lnSpc>
                <a:spcPts val="4360"/>
              </a:lnSpc>
              <a:buFont typeface="Arial"/>
              <a:buChar char="•"/>
            </a:pPr>
            <a:r>
              <a:rPr lang="en-US" sz="3695" spc="18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INSERT INTO Doctor VALUES ...</a:t>
            </a:r>
          </a:p>
          <a:p>
            <a:pPr marL="797877" lvl="1" indent="-398939" algn="l">
              <a:lnSpc>
                <a:spcPts val="4360"/>
              </a:lnSpc>
              <a:buFont typeface="Arial"/>
              <a:buChar char="•"/>
            </a:pPr>
            <a:r>
              <a:rPr lang="en-US" sz="3695" spc="18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INSERT INTO Patient VALUES ...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6521186"/>
            <a:ext cx="12349248" cy="1161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0"/>
              </a:lnSpc>
            </a:pPr>
            <a:r>
              <a:rPr lang="en-US" sz="3695" b="1" spc="18">
                <a:solidFill>
                  <a:srgbClr val="00599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Inserted Records:</a:t>
            </a:r>
          </a:p>
          <a:p>
            <a:pPr marL="797877" lvl="1" indent="-398939" algn="l">
              <a:lnSpc>
                <a:spcPts val="4360"/>
              </a:lnSpc>
              <a:buFont typeface="Arial"/>
              <a:buChar char="•"/>
            </a:pPr>
            <a:r>
              <a:rPr lang="en-US" sz="3695" spc="18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10 Departments, 10 Clinics, 10 Doctors, 10 Patients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064515" y="8229600"/>
            <a:ext cx="4490914" cy="4114800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0" y="0"/>
                </a:moveTo>
                <a:lnTo>
                  <a:pt x="4490915" y="0"/>
                </a:lnTo>
                <a:lnTo>
                  <a:pt x="44909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74335" y="1652941"/>
            <a:ext cx="11447053" cy="125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DML</a:t>
            </a:r>
          </a:p>
        </p:txBody>
      </p:sp>
      <p:sp>
        <p:nvSpPr>
          <p:cNvPr id="5" name="Freeform 5"/>
          <p:cNvSpPr/>
          <p:nvPr/>
        </p:nvSpPr>
        <p:spPr>
          <a:xfrm flipH="1" flipV="1">
            <a:off x="14085445" y="-528284"/>
            <a:ext cx="4490914" cy="4114800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4490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90914" y="0"/>
                </a:lnTo>
                <a:lnTo>
                  <a:pt x="4490914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55953" y="3445790"/>
            <a:ext cx="12349248" cy="609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7877" lvl="1" indent="-398939" algn="l">
              <a:lnSpc>
                <a:spcPts val="4360"/>
              </a:lnSpc>
              <a:buFont typeface="Arial"/>
              <a:buChar char="•"/>
            </a:pPr>
            <a:r>
              <a:rPr lang="en-US" sz="3695" spc="18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INSERT INTO Appointment VALUES ...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0942" y="4432757"/>
            <a:ext cx="14714728" cy="3371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0"/>
              </a:lnSpc>
            </a:pPr>
            <a:r>
              <a:rPr lang="en-US" sz="3695" b="1" spc="18">
                <a:solidFill>
                  <a:srgbClr val="00599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Appointment Data Includes:</a:t>
            </a:r>
          </a:p>
          <a:p>
            <a:pPr algn="l">
              <a:lnSpc>
                <a:spcPts val="4360"/>
              </a:lnSpc>
            </a:pPr>
            <a:r>
              <a:rPr lang="en-US" sz="3695" spc="18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Appointment dates, start &amp; end times, consultation cost, status, diagnosis</a:t>
            </a:r>
          </a:p>
          <a:p>
            <a:pPr algn="l">
              <a:lnSpc>
                <a:spcPts val="4360"/>
              </a:lnSpc>
            </a:pPr>
            <a:endParaRPr lang="en-US" sz="3695" spc="18">
              <a:solidFill>
                <a:srgbClr val="00599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l">
              <a:lnSpc>
                <a:spcPts val="4360"/>
              </a:lnSpc>
            </a:pPr>
            <a:r>
              <a:rPr lang="en-US" sz="3695" b="1" spc="18">
                <a:solidFill>
                  <a:srgbClr val="00599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Example Diagnoses:</a:t>
            </a:r>
          </a:p>
          <a:p>
            <a:pPr algn="l">
              <a:lnSpc>
                <a:spcPts val="4360"/>
              </a:lnSpc>
            </a:pPr>
            <a:r>
              <a:rPr lang="en-US" sz="3695" spc="18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Headache, cough, back pain, skin rash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83331" y="3328306"/>
            <a:ext cx="5595996" cy="2964997"/>
            <a:chOff x="0" y="0"/>
            <a:chExt cx="1473843" cy="7809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73843" cy="780905"/>
            </a:xfrm>
            <a:custGeom>
              <a:avLst/>
              <a:gdLst/>
              <a:ahLst/>
              <a:cxnLst/>
              <a:rect l="l" t="t" r="r" b="b"/>
              <a:pathLst>
                <a:path w="1473843" h="780905">
                  <a:moveTo>
                    <a:pt x="34587" y="0"/>
                  </a:moveTo>
                  <a:lnTo>
                    <a:pt x="1439256" y="0"/>
                  </a:lnTo>
                  <a:cubicBezTo>
                    <a:pt x="1458357" y="0"/>
                    <a:pt x="1473843" y="15485"/>
                    <a:pt x="1473843" y="34587"/>
                  </a:cubicBezTo>
                  <a:lnTo>
                    <a:pt x="1473843" y="746318"/>
                  </a:lnTo>
                  <a:cubicBezTo>
                    <a:pt x="1473843" y="765419"/>
                    <a:pt x="1458357" y="780905"/>
                    <a:pt x="1439256" y="780905"/>
                  </a:cubicBezTo>
                  <a:lnTo>
                    <a:pt x="34587" y="780905"/>
                  </a:lnTo>
                  <a:cubicBezTo>
                    <a:pt x="15485" y="780905"/>
                    <a:pt x="0" y="765419"/>
                    <a:pt x="0" y="746318"/>
                  </a:cubicBezTo>
                  <a:lnTo>
                    <a:pt x="0" y="34587"/>
                  </a:lnTo>
                  <a:cubicBezTo>
                    <a:pt x="0" y="15485"/>
                    <a:pt x="15485" y="0"/>
                    <a:pt x="34587" y="0"/>
                  </a:cubicBezTo>
                  <a:close/>
                </a:path>
              </a:pathLst>
            </a:custGeom>
            <a:solidFill>
              <a:srgbClr val="00599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73843" cy="8190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46002" y="3328306"/>
            <a:ext cx="5595996" cy="2964997"/>
            <a:chOff x="0" y="0"/>
            <a:chExt cx="1473843" cy="7809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73843" cy="780905"/>
            </a:xfrm>
            <a:custGeom>
              <a:avLst/>
              <a:gdLst/>
              <a:ahLst/>
              <a:cxnLst/>
              <a:rect l="l" t="t" r="r" b="b"/>
              <a:pathLst>
                <a:path w="1473843" h="780905">
                  <a:moveTo>
                    <a:pt x="34587" y="0"/>
                  </a:moveTo>
                  <a:lnTo>
                    <a:pt x="1439256" y="0"/>
                  </a:lnTo>
                  <a:cubicBezTo>
                    <a:pt x="1458357" y="0"/>
                    <a:pt x="1473843" y="15485"/>
                    <a:pt x="1473843" y="34587"/>
                  </a:cubicBezTo>
                  <a:lnTo>
                    <a:pt x="1473843" y="746318"/>
                  </a:lnTo>
                  <a:cubicBezTo>
                    <a:pt x="1473843" y="765419"/>
                    <a:pt x="1458357" y="780905"/>
                    <a:pt x="1439256" y="780905"/>
                  </a:cubicBezTo>
                  <a:lnTo>
                    <a:pt x="34587" y="780905"/>
                  </a:lnTo>
                  <a:cubicBezTo>
                    <a:pt x="15485" y="780905"/>
                    <a:pt x="0" y="765419"/>
                    <a:pt x="0" y="746318"/>
                  </a:cubicBezTo>
                  <a:lnTo>
                    <a:pt x="0" y="34587"/>
                  </a:lnTo>
                  <a:cubicBezTo>
                    <a:pt x="0" y="15485"/>
                    <a:pt x="15485" y="0"/>
                    <a:pt x="34587" y="0"/>
                  </a:cubicBez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73843" cy="8190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008673" y="3328306"/>
            <a:ext cx="5595996" cy="2964997"/>
            <a:chOff x="0" y="0"/>
            <a:chExt cx="1473843" cy="7809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73843" cy="780905"/>
            </a:xfrm>
            <a:custGeom>
              <a:avLst/>
              <a:gdLst/>
              <a:ahLst/>
              <a:cxnLst/>
              <a:rect l="l" t="t" r="r" b="b"/>
              <a:pathLst>
                <a:path w="1473843" h="780905">
                  <a:moveTo>
                    <a:pt x="34587" y="0"/>
                  </a:moveTo>
                  <a:lnTo>
                    <a:pt x="1439256" y="0"/>
                  </a:lnTo>
                  <a:cubicBezTo>
                    <a:pt x="1458357" y="0"/>
                    <a:pt x="1473843" y="15485"/>
                    <a:pt x="1473843" y="34587"/>
                  </a:cubicBezTo>
                  <a:lnTo>
                    <a:pt x="1473843" y="746318"/>
                  </a:lnTo>
                  <a:cubicBezTo>
                    <a:pt x="1473843" y="765419"/>
                    <a:pt x="1458357" y="780905"/>
                    <a:pt x="1439256" y="780905"/>
                  </a:cubicBezTo>
                  <a:lnTo>
                    <a:pt x="34587" y="780905"/>
                  </a:lnTo>
                  <a:cubicBezTo>
                    <a:pt x="15485" y="780905"/>
                    <a:pt x="0" y="765419"/>
                    <a:pt x="0" y="746318"/>
                  </a:cubicBezTo>
                  <a:lnTo>
                    <a:pt x="0" y="34587"/>
                  </a:lnTo>
                  <a:cubicBezTo>
                    <a:pt x="0" y="15485"/>
                    <a:pt x="15485" y="0"/>
                    <a:pt x="34587" y="0"/>
                  </a:cubicBezTo>
                  <a:close/>
                </a:path>
              </a:pathLst>
            </a:custGeom>
            <a:solidFill>
              <a:srgbClr val="00599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73843" cy="8190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-261626" y="8939784"/>
            <a:ext cx="7315200" cy="1347216"/>
          </a:xfrm>
          <a:custGeom>
            <a:avLst/>
            <a:gdLst/>
            <a:ahLst/>
            <a:cxnLst/>
            <a:rect l="l" t="t" r="r" b="b"/>
            <a:pathLst>
              <a:path w="7315200" h="1347216">
                <a:moveTo>
                  <a:pt x="0" y="0"/>
                </a:moveTo>
                <a:lnTo>
                  <a:pt x="7315200" y="0"/>
                </a:lnTo>
                <a:lnTo>
                  <a:pt x="7315200" y="1347216"/>
                </a:lnTo>
                <a:lnTo>
                  <a:pt x="0" y="1347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8700" y="1637548"/>
            <a:ext cx="16230600" cy="2468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QUERIES</a:t>
            </a:r>
          </a:p>
          <a:p>
            <a:pPr algn="ctr">
              <a:lnSpc>
                <a:spcPts val="9561"/>
              </a:lnSpc>
            </a:pPr>
            <a:endParaRPr lang="en-US" sz="9106">
              <a:solidFill>
                <a:srgbClr val="0071B3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372718" y="3622194"/>
            <a:ext cx="2046512" cy="1075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3399" b="1" spc="16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Query 1</a:t>
            </a:r>
          </a:p>
          <a:p>
            <a:pPr algn="l">
              <a:lnSpc>
                <a:spcPts val="4011"/>
              </a:lnSpc>
            </a:pPr>
            <a:endParaRPr lang="en-US" sz="3399" b="1" spc="16">
              <a:solidFill>
                <a:srgbClr val="FFFFFF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13651" y="4650005"/>
            <a:ext cx="4135357" cy="873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Patients diagnosed with fatty liver disease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33191" y="3622194"/>
            <a:ext cx="2021618" cy="1075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3399" b="1" spc="16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Query 2</a:t>
            </a:r>
          </a:p>
          <a:p>
            <a:pPr algn="l">
              <a:lnSpc>
                <a:spcPts val="4011"/>
              </a:lnSpc>
            </a:pPr>
            <a:endParaRPr lang="en-US" sz="3399" b="1" spc="16">
              <a:solidFill>
                <a:srgbClr val="FFFFFF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076322" y="4650005"/>
            <a:ext cx="4135357" cy="873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Addresses of cardiology clinics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816605" y="3622194"/>
            <a:ext cx="1980132" cy="1075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3399" b="1" spc="16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Query 3</a:t>
            </a:r>
          </a:p>
          <a:p>
            <a:pPr algn="l">
              <a:lnSpc>
                <a:spcPts val="4011"/>
              </a:lnSpc>
            </a:pPr>
            <a:endParaRPr lang="en-US" sz="3399" b="1" spc="16">
              <a:solidFill>
                <a:srgbClr val="FFFFFF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738993" y="4650005"/>
            <a:ext cx="4135357" cy="873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Total payments in last 3 years</a:t>
            </a:r>
          </a:p>
        </p:txBody>
      </p:sp>
      <p:sp>
        <p:nvSpPr>
          <p:cNvPr id="20" name="Freeform 20"/>
          <p:cNvSpPr/>
          <p:nvPr/>
        </p:nvSpPr>
        <p:spPr>
          <a:xfrm flipH="1" flipV="1">
            <a:off x="11149071" y="0"/>
            <a:ext cx="7315200" cy="1347216"/>
          </a:xfrm>
          <a:custGeom>
            <a:avLst/>
            <a:gdLst/>
            <a:ahLst/>
            <a:cxnLst/>
            <a:rect l="l" t="t" r="r" b="b"/>
            <a:pathLst>
              <a:path w="7315200" h="1347216">
                <a:moveTo>
                  <a:pt x="7315200" y="1347216"/>
                </a:moveTo>
                <a:lnTo>
                  <a:pt x="0" y="1347216"/>
                </a:lnTo>
                <a:lnTo>
                  <a:pt x="0" y="0"/>
                </a:lnTo>
                <a:lnTo>
                  <a:pt x="7315200" y="0"/>
                </a:lnTo>
                <a:lnTo>
                  <a:pt x="7315200" y="134721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61626" y="8939784"/>
            <a:ext cx="7315200" cy="1347216"/>
          </a:xfrm>
          <a:custGeom>
            <a:avLst/>
            <a:gdLst/>
            <a:ahLst/>
            <a:cxnLst/>
            <a:rect l="l" t="t" r="r" b="b"/>
            <a:pathLst>
              <a:path w="7315200" h="1347216">
                <a:moveTo>
                  <a:pt x="0" y="0"/>
                </a:moveTo>
                <a:lnTo>
                  <a:pt x="7315200" y="0"/>
                </a:lnTo>
                <a:lnTo>
                  <a:pt x="7315200" y="1347216"/>
                </a:lnTo>
                <a:lnTo>
                  <a:pt x="0" y="1347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149071" y="0"/>
            <a:ext cx="7315200" cy="1347216"/>
          </a:xfrm>
          <a:custGeom>
            <a:avLst/>
            <a:gdLst/>
            <a:ahLst/>
            <a:cxnLst/>
            <a:rect l="l" t="t" r="r" b="b"/>
            <a:pathLst>
              <a:path w="7315200" h="1347216">
                <a:moveTo>
                  <a:pt x="7315200" y="1347216"/>
                </a:moveTo>
                <a:lnTo>
                  <a:pt x="0" y="1347216"/>
                </a:lnTo>
                <a:lnTo>
                  <a:pt x="0" y="0"/>
                </a:lnTo>
                <a:lnTo>
                  <a:pt x="7315200" y="0"/>
                </a:lnTo>
                <a:lnTo>
                  <a:pt x="7315200" y="134721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986741" y="2810133"/>
            <a:ext cx="11301259" cy="5933161"/>
          </a:xfrm>
          <a:custGeom>
            <a:avLst/>
            <a:gdLst/>
            <a:ahLst/>
            <a:cxnLst/>
            <a:rect l="l" t="t" r="r" b="b"/>
            <a:pathLst>
              <a:path w="11301259" h="5933161">
                <a:moveTo>
                  <a:pt x="0" y="0"/>
                </a:moveTo>
                <a:lnTo>
                  <a:pt x="11301259" y="0"/>
                </a:lnTo>
                <a:lnTo>
                  <a:pt x="11301259" y="5933161"/>
                </a:lnTo>
                <a:lnTo>
                  <a:pt x="0" y="59331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55050" y="797433"/>
            <a:ext cx="4838386" cy="2468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QUERY 1</a:t>
            </a:r>
          </a:p>
          <a:p>
            <a:pPr algn="ctr">
              <a:lnSpc>
                <a:spcPts val="9561"/>
              </a:lnSpc>
            </a:pPr>
            <a:endParaRPr lang="en-US" sz="9106">
              <a:solidFill>
                <a:srgbClr val="0071B3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45443" y="3044505"/>
            <a:ext cx="6641298" cy="415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b="1" spc="13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Purpose :</a:t>
            </a:r>
          </a:p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Finds patients diagnosed with fatty liver disease during the last year.</a:t>
            </a:r>
          </a:p>
          <a:p>
            <a:pPr algn="l">
              <a:lnSpc>
                <a:spcPts val="3246"/>
              </a:lnSpc>
            </a:pPr>
            <a:r>
              <a:rPr lang="en-US" sz="2751" b="1" spc="13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Tables Used :</a:t>
            </a:r>
          </a:p>
          <a:p>
            <a:pPr marL="594075" lvl="1" indent="-297038" algn="l">
              <a:lnSpc>
                <a:spcPts val="3246"/>
              </a:lnSpc>
              <a:buFont typeface="Arial"/>
              <a:buChar char="•"/>
            </a:pPr>
            <a:r>
              <a:rPr lang="en-US" sz="2751" spc="13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Patient</a:t>
            </a:r>
          </a:p>
          <a:p>
            <a:pPr marL="594075" lvl="1" indent="-297038" algn="l">
              <a:lnSpc>
                <a:spcPts val="3246"/>
              </a:lnSpc>
              <a:buFont typeface="Arial"/>
              <a:buChar char="•"/>
            </a:pPr>
            <a:r>
              <a:rPr lang="en-US" sz="2751" spc="13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Appointment</a:t>
            </a:r>
          </a:p>
          <a:p>
            <a:pPr algn="l">
              <a:lnSpc>
                <a:spcPts val="3246"/>
              </a:lnSpc>
            </a:pPr>
            <a:r>
              <a:rPr lang="en-US" sz="2751" b="1" spc="13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Result :</a:t>
            </a:r>
          </a:p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No matching patients were found in the current dataset.</a:t>
            </a:r>
          </a:p>
          <a:p>
            <a:pPr algn="l">
              <a:lnSpc>
                <a:spcPts val="3246"/>
              </a:lnSpc>
            </a:pPr>
            <a:endParaRPr lang="en-US" sz="2751" spc="13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61626" y="8939784"/>
            <a:ext cx="7315200" cy="1347216"/>
          </a:xfrm>
          <a:custGeom>
            <a:avLst/>
            <a:gdLst/>
            <a:ahLst/>
            <a:cxnLst/>
            <a:rect l="l" t="t" r="r" b="b"/>
            <a:pathLst>
              <a:path w="7315200" h="1347216">
                <a:moveTo>
                  <a:pt x="0" y="0"/>
                </a:moveTo>
                <a:lnTo>
                  <a:pt x="7315200" y="0"/>
                </a:lnTo>
                <a:lnTo>
                  <a:pt x="7315200" y="1347216"/>
                </a:lnTo>
                <a:lnTo>
                  <a:pt x="0" y="1347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149071" y="0"/>
            <a:ext cx="7315200" cy="1347216"/>
          </a:xfrm>
          <a:custGeom>
            <a:avLst/>
            <a:gdLst/>
            <a:ahLst/>
            <a:cxnLst/>
            <a:rect l="l" t="t" r="r" b="b"/>
            <a:pathLst>
              <a:path w="7315200" h="1347216">
                <a:moveTo>
                  <a:pt x="7315200" y="1347216"/>
                </a:moveTo>
                <a:lnTo>
                  <a:pt x="0" y="1347216"/>
                </a:lnTo>
                <a:lnTo>
                  <a:pt x="0" y="0"/>
                </a:lnTo>
                <a:lnTo>
                  <a:pt x="7315200" y="0"/>
                </a:lnTo>
                <a:lnTo>
                  <a:pt x="7315200" y="134721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287568" y="2703948"/>
            <a:ext cx="11000432" cy="5775227"/>
          </a:xfrm>
          <a:custGeom>
            <a:avLst/>
            <a:gdLst/>
            <a:ahLst/>
            <a:cxnLst/>
            <a:rect l="l" t="t" r="r" b="b"/>
            <a:pathLst>
              <a:path w="11000432" h="5775227">
                <a:moveTo>
                  <a:pt x="0" y="0"/>
                </a:moveTo>
                <a:lnTo>
                  <a:pt x="11000432" y="0"/>
                </a:lnTo>
                <a:lnTo>
                  <a:pt x="11000432" y="5775227"/>
                </a:lnTo>
                <a:lnTo>
                  <a:pt x="0" y="57752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73155" y="3044505"/>
            <a:ext cx="6045638" cy="415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b="1" spc="13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Purpose :</a:t>
            </a:r>
          </a:p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Displays addresses of clinics that have a Cardiology department.</a:t>
            </a:r>
          </a:p>
          <a:p>
            <a:pPr algn="l">
              <a:lnSpc>
                <a:spcPts val="3246"/>
              </a:lnSpc>
            </a:pPr>
            <a:r>
              <a:rPr lang="en-US" sz="2751" b="1" spc="13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Tables Used :</a:t>
            </a:r>
          </a:p>
          <a:p>
            <a:pPr marL="594075" lvl="1" indent="-297038" algn="l">
              <a:lnSpc>
                <a:spcPts val="3246"/>
              </a:lnSpc>
              <a:buFont typeface="Arial"/>
              <a:buChar char="•"/>
            </a:pPr>
            <a:r>
              <a:rPr lang="en-US" sz="2751" spc="13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Clinic</a:t>
            </a:r>
          </a:p>
          <a:p>
            <a:pPr marL="594075" lvl="1" indent="-297038" algn="l">
              <a:lnSpc>
                <a:spcPts val="3246"/>
              </a:lnSpc>
              <a:buFont typeface="Arial"/>
              <a:buChar char="•"/>
            </a:pPr>
            <a:r>
              <a:rPr lang="en-US" sz="2751" spc="13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Department</a:t>
            </a:r>
          </a:p>
          <a:p>
            <a:pPr algn="l">
              <a:lnSpc>
                <a:spcPts val="3246"/>
              </a:lnSpc>
            </a:pPr>
            <a:r>
              <a:rPr lang="en-US" sz="2751" b="1" spc="13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Result :</a:t>
            </a:r>
          </a:p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Heart Clinic North → 123 Main St.</a:t>
            </a:r>
          </a:p>
          <a:p>
            <a:pPr algn="l">
              <a:lnSpc>
                <a:spcPts val="3246"/>
              </a:lnSpc>
            </a:pPr>
            <a:endParaRPr lang="en-US" sz="2751" spc="13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l">
              <a:lnSpc>
                <a:spcPts val="3246"/>
              </a:lnSpc>
            </a:pPr>
            <a:endParaRPr lang="en-US" sz="2751" spc="13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55050" y="797433"/>
            <a:ext cx="4838386" cy="2468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QUERY 2</a:t>
            </a:r>
          </a:p>
          <a:p>
            <a:pPr algn="ctr">
              <a:lnSpc>
                <a:spcPts val="9561"/>
              </a:lnSpc>
            </a:pPr>
            <a:endParaRPr lang="en-US" sz="9106">
              <a:solidFill>
                <a:srgbClr val="0071B3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61626" y="8939784"/>
            <a:ext cx="7315200" cy="1347216"/>
          </a:xfrm>
          <a:custGeom>
            <a:avLst/>
            <a:gdLst/>
            <a:ahLst/>
            <a:cxnLst/>
            <a:rect l="l" t="t" r="r" b="b"/>
            <a:pathLst>
              <a:path w="7315200" h="1347216">
                <a:moveTo>
                  <a:pt x="0" y="0"/>
                </a:moveTo>
                <a:lnTo>
                  <a:pt x="7315200" y="0"/>
                </a:lnTo>
                <a:lnTo>
                  <a:pt x="7315200" y="1347216"/>
                </a:lnTo>
                <a:lnTo>
                  <a:pt x="0" y="1347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149071" y="0"/>
            <a:ext cx="7315200" cy="1347216"/>
          </a:xfrm>
          <a:custGeom>
            <a:avLst/>
            <a:gdLst/>
            <a:ahLst/>
            <a:cxnLst/>
            <a:rect l="l" t="t" r="r" b="b"/>
            <a:pathLst>
              <a:path w="7315200" h="1347216">
                <a:moveTo>
                  <a:pt x="7315200" y="1347216"/>
                </a:moveTo>
                <a:lnTo>
                  <a:pt x="0" y="1347216"/>
                </a:lnTo>
                <a:lnTo>
                  <a:pt x="0" y="0"/>
                </a:lnTo>
                <a:lnTo>
                  <a:pt x="7315200" y="0"/>
                </a:lnTo>
                <a:lnTo>
                  <a:pt x="7315200" y="134721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143962" y="2828713"/>
            <a:ext cx="11301259" cy="5933161"/>
          </a:xfrm>
          <a:custGeom>
            <a:avLst/>
            <a:gdLst/>
            <a:ahLst/>
            <a:cxnLst/>
            <a:rect l="l" t="t" r="r" b="b"/>
            <a:pathLst>
              <a:path w="11301259" h="5933161">
                <a:moveTo>
                  <a:pt x="0" y="0"/>
                </a:moveTo>
                <a:lnTo>
                  <a:pt x="11301259" y="0"/>
                </a:lnTo>
                <a:lnTo>
                  <a:pt x="11301259" y="5933161"/>
                </a:lnTo>
                <a:lnTo>
                  <a:pt x="0" y="59331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12592" y="3218803"/>
            <a:ext cx="6269459" cy="333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6"/>
              </a:lnSpc>
            </a:pPr>
            <a:r>
              <a:rPr lang="en-US" sz="2751" b="1" spc="13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Purpose :</a:t>
            </a:r>
          </a:p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Calculates the total amount paid by a patient in the last three years.</a:t>
            </a:r>
          </a:p>
          <a:p>
            <a:pPr algn="l">
              <a:lnSpc>
                <a:spcPts val="3246"/>
              </a:lnSpc>
            </a:pPr>
            <a:r>
              <a:rPr lang="en-US" sz="2751" b="1" spc="13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Tables Used :</a:t>
            </a:r>
          </a:p>
          <a:p>
            <a:pPr marL="594075" lvl="1" indent="-297038" algn="l">
              <a:lnSpc>
                <a:spcPts val="3246"/>
              </a:lnSpc>
              <a:buFont typeface="Arial"/>
              <a:buChar char="•"/>
            </a:pPr>
            <a:r>
              <a:rPr lang="en-US" sz="2751" spc="13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Appointment</a:t>
            </a:r>
          </a:p>
          <a:p>
            <a:pPr algn="l">
              <a:lnSpc>
                <a:spcPts val="3246"/>
              </a:lnSpc>
            </a:pPr>
            <a:r>
              <a:rPr lang="en-US" sz="2751" b="1" spc="13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Result :</a:t>
            </a:r>
          </a:p>
          <a:p>
            <a:pPr algn="l">
              <a:lnSpc>
                <a:spcPts val="3246"/>
              </a:lnSpc>
            </a:pPr>
            <a:r>
              <a:rPr lang="en-US" sz="2751" spc="13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Patient 1002 paid $300.</a:t>
            </a:r>
          </a:p>
          <a:p>
            <a:pPr algn="l">
              <a:lnSpc>
                <a:spcPts val="3246"/>
              </a:lnSpc>
            </a:pPr>
            <a:endParaRPr lang="en-US" sz="2751" spc="13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55050" y="797433"/>
            <a:ext cx="4838386" cy="2468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QUERY 3</a:t>
            </a:r>
          </a:p>
          <a:p>
            <a:pPr algn="ctr">
              <a:lnSpc>
                <a:spcPts val="9561"/>
              </a:lnSpc>
            </a:pPr>
            <a:endParaRPr lang="en-US" sz="9106">
              <a:solidFill>
                <a:srgbClr val="0071B3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5091664" y="-2196731"/>
            <a:ext cx="4490914" cy="4114800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4490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90914" y="0"/>
                </a:lnTo>
                <a:lnTo>
                  <a:pt x="4490914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8939784"/>
            <a:ext cx="7315200" cy="1347216"/>
          </a:xfrm>
          <a:custGeom>
            <a:avLst/>
            <a:gdLst/>
            <a:ahLst/>
            <a:cxnLst/>
            <a:rect l="l" t="t" r="r" b="b"/>
            <a:pathLst>
              <a:path w="7315200" h="1347216">
                <a:moveTo>
                  <a:pt x="0" y="0"/>
                </a:moveTo>
                <a:lnTo>
                  <a:pt x="7315200" y="0"/>
                </a:lnTo>
                <a:lnTo>
                  <a:pt x="7315200" y="1347216"/>
                </a:lnTo>
                <a:lnTo>
                  <a:pt x="0" y="13472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444747" y="1152525"/>
            <a:ext cx="4785059" cy="2468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TRIGGERS</a:t>
            </a:r>
          </a:p>
          <a:p>
            <a:pPr algn="r">
              <a:lnSpc>
                <a:spcPts val="9561"/>
              </a:lnSpc>
            </a:pPr>
            <a:endParaRPr lang="en-US" sz="9106">
              <a:solidFill>
                <a:srgbClr val="0071B3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0778782" y="6293303"/>
            <a:ext cx="5595996" cy="2964997"/>
            <a:chOff x="0" y="0"/>
            <a:chExt cx="1473843" cy="7809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73843" cy="780905"/>
            </a:xfrm>
            <a:custGeom>
              <a:avLst/>
              <a:gdLst/>
              <a:ahLst/>
              <a:cxnLst/>
              <a:rect l="l" t="t" r="r" b="b"/>
              <a:pathLst>
                <a:path w="1473843" h="780905">
                  <a:moveTo>
                    <a:pt x="34587" y="0"/>
                  </a:moveTo>
                  <a:lnTo>
                    <a:pt x="1439256" y="0"/>
                  </a:lnTo>
                  <a:cubicBezTo>
                    <a:pt x="1458357" y="0"/>
                    <a:pt x="1473843" y="15485"/>
                    <a:pt x="1473843" y="34587"/>
                  </a:cubicBezTo>
                  <a:lnTo>
                    <a:pt x="1473843" y="746318"/>
                  </a:lnTo>
                  <a:cubicBezTo>
                    <a:pt x="1473843" y="765419"/>
                    <a:pt x="1458357" y="780905"/>
                    <a:pt x="1439256" y="780905"/>
                  </a:cubicBezTo>
                  <a:lnTo>
                    <a:pt x="34587" y="780905"/>
                  </a:lnTo>
                  <a:cubicBezTo>
                    <a:pt x="15485" y="780905"/>
                    <a:pt x="0" y="765419"/>
                    <a:pt x="0" y="746318"/>
                  </a:cubicBezTo>
                  <a:lnTo>
                    <a:pt x="0" y="34587"/>
                  </a:lnTo>
                  <a:cubicBezTo>
                    <a:pt x="0" y="15485"/>
                    <a:pt x="15485" y="0"/>
                    <a:pt x="34587" y="0"/>
                  </a:cubicBezTo>
                  <a:close/>
                </a:path>
              </a:pathLst>
            </a:custGeom>
            <a:solidFill>
              <a:srgbClr val="00599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473843" cy="838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prevent double booking</a:t>
              </a:r>
            </a:p>
            <a:p>
              <a:pPr algn="ctr">
                <a:lnSpc>
                  <a:spcPts val="2380"/>
                </a:lnSpc>
              </a:pPr>
              <a:r>
                <a:rPr lang="en-US" sz="17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Prevents overlapping appointments for doctors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323752" y="6293303"/>
            <a:ext cx="5595996" cy="2964997"/>
            <a:chOff x="0" y="0"/>
            <a:chExt cx="1473843" cy="7809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73843" cy="780905"/>
            </a:xfrm>
            <a:custGeom>
              <a:avLst/>
              <a:gdLst/>
              <a:ahLst/>
              <a:cxnLst/>
              <a:rect l="l" t="t" r="r" b="b"/>
              <a:pathLst>
                <a:path w="1473843" h="780905">
                  <a:moveTo>
                    <a:pt x="34587" y="0"/>
                  </a:moveTo>
                  <a:lnTo>
                    <a:pt x="1439256" y="0"/>
                  </a:lnTo>
                  <a:cubicBezTo>
                    <a:pt x="1458357" y="0"/>
                    <a:pt x="1473843" y="15485"/>
                    <a:pt x="1473843" y="34587"/>
                  </a:cubicBezTo>
                  <a:lnTo>
                    <a:pt x="1473843" y="746318"/>
                  </a:lnTo>
                  <a:cubicBezTo>
                    <a:pt x="1473843" y="765419"/>
                    <a:pt x="1458357" y="780905"/>
                    <a:pt x="1439256" y="780905"/>
                  </a:cubicBezTo>
                  <a:lnTo>
                    <a:pt x="34587" y="780905"/>
                  </a:lnTo>
                  <a:cubicBezTo>
                    <a:pt x="15485" y="780905"/>
                    <a:pt x="0" y="765419"/>
                    <a:pt x="0" y="746318"/>
                  </a:cubicBezTo>
                  <a:lnTo>
                    <a:pt x="0" y="34587"/>
                  </a:lnTo>
                  <a:cubicBezTo>
                    <a:pt x="0" y="15485"/>
                    <a:pt x="15485" y="0"/>
                    <a:pt x="34587" y="0"/>
                  </a:cubicBez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473843" cy="828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require diagnosis on completion  </a:t>
              </a:r>
            </a:p>
            <a:p>
              <a:pPr algn="ctr">
                <a:lnSpc>
                  <a:spcPts val="2380"/>
                </a:lnSpc>
              </a:pPr>
              <a:r>
                <a:rPr lang="en-US" sz="17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Requires diagnosis before marking appointment as completed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323752" y="2722322"/>
            <a:ext cx="5595996" cy="2964997"/>
            <a:chOff x="0" y="0"/>
            <a:chExt cx="1473843" cy="78090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73843" cy="780905"/>
            </a:xfrm>
            <a:custGeom>
              <a:avLst/>
              <a:gdLst/>
              <a:ahLst/>
              <a:cxnLst/>
              <a:rect l="l" t="t" r="r" b="b"/>
              <a:pathLst>
                <a:path w="1473843" h="780905">
                  <a:moveTo>
                    <a:pt x="34587" y="0"/>
                  </a:moveTo>
                  <a:lnTo>
                    <a:pt x="1439256" y="0"/>
                  </a:lnTo>
                  <a:cubicBezTo>
                    <a:pt x="1458357" y="0"/>
                    <a:pt x="1473843" y="15485"/>
                    <a:pt x="1473843" y="34587"/>
                  </a:cubicBezTo>
                  <a:lnTo>
                    <a:pt x="1473843" y="746318"/>
                  </a:lnTo>
                  <a:cubicBezTo>
                    <a:pt x="1473843" y="765419"/>
                    <a:pt x="1458357" y="780905"/>
                    <a:pt x="1439256" y="780905"/>
                  </a:cubicBezTo>
                  <a:lnTo>
                    <a:pt x="34587" y="780905"/>
                  </a:lnTo>
                  <a:cubicBezTo>
                    <a:pt x="15485" y="780905"/>
                    <a:pt x="0" y="765419"/>
                    <a:pt x="0" y="746318"/>
                  </a:cubicBezTo>
                  <a:lnTo>
                    <a:pt x="0" y="34587"/>
                  </a:lnTo>
                  <a:cubicBezTo>
                    <a:pt x="0" y="15485"/>
                    <a:pt x="15485" y="0"/>
                    <a:pt x="34587" y="0"/>
                  </a:cubicBezTo>
                  <a:close/>
                </a:path>
              </a:pathLst>
            </a:custGeom>
            <a:solidFill>
              <a:srgbClr val="00599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473843" cy="838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prevent past appointments</a:t>
              </a:r>
            </a:p>
            <a:p>
              <a:pPr algn="ctr">
                <a:lnSpc>
                  <a:spcPts val="2380"/>
                </a:lnSpc>
              </a:pPr>
              <a:r>
                <a:rPr lang="en-US" sz="17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sz="17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Prevents scheduling appointments in previous dates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778782" y="2722322"/>
            <a:ext cx="5595996" cy="2964997"/>
            <a:chOff x="0" y="0"/>
            <a:chExt cx="1473843" cy="78090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73843" cy="780905"/>
            </a:xfrm>
            <a:custGeom>
              <a:avLst/>
              <a:gdLst/>
              <a:ahLst/>
              <a:cxnLst/>
              <a:rect l="l" t="t" r="r" b="b"/>
              <a:pathLst>
                <a:path w="1473843" h="780905">
                  <a:moveTo>
                    <a:pt x="34587" y="0"/>
                  </a:moveTo>
                  <a:lnTo>
                    <a:pt x="1439256" y="0"/>
                  </a:lnTo>
                  <a:cubicBezTo>
                    <a:pt x="1458357" y="0"/>
                    <a:pt x="1473843" y="15485"/>
                    <a:pt x="1473843" y="34587"/>
                  </a:cubicBezTo>
                  <a:lnTo>
                    <a:pt x="1473843" y="746318"/>
                  </a:lnTo>
                  <a:cubicBezTo>
                    <a:pt x="1473843" y="765419"/>
                    <a:pt x="1458357" y="780905"/>
                    <a:pt x="1439256" y="780905"/>
                  </a:cubicBezTo>
                  <a:lnTo>
                    <a:pt x="34587" y="780905"/>
                  </a:lnTo>
                  <a:cubicBezTo>
                    <a:pt x="15485" y="780905"/>
                    <a:pt x="0" y="765419"/>
                    <a:pt x="0" y="746318"/>
                  </a:cubicBezTo>
                  <a:lnTo>
                    <a:pt x="0" y="34587"/>
                  </a:lnTo>
                  <a:cubicBezTo>
                    <a:pt x="0" y="15485"/>
                    <a:pt x="15485" y="0"/>
                    <a:pt x="34587" y="0"/>
                  </a:cubicBezTo>
                  <a:close/>
                </a:path>
              </a:pathLst>
            </a:custGeom>
            <a:solidFill>
              <a:srgbClr val="F7C613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473843" cy="838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check appointment time </a:t>
              </a:r>
            </a:p>
            <a:p>
              <a:pPr algn="ctr">
                <a:lnSpc>
                  <a:spcPts val="2380"/>
                </a:lnSpc>
              </a:pPr>
              <a:r>
                <a:rPr lang="en-US" sz="17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Ensures start time comes before end time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5091664" y="-2196731"/>
            <a:ext cx="4490914" cy="4114800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4490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90914" y="0"/>
                </a:lnTo>
                <a:lnTo>
                  <a:pt x="4490914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8939784"/>
            <a:ext cx="7315200" cy="1347216"/>
          </a:xfrm>
          <a:custGeom>
            <a:avLst/>
            <a:gdLst/>
            <a:ahLst/>
            <a:cxnLst/>
            <a:rect l="l" t="t" r="r" b="b"/>
            <a:pathLst>
              <a:path w="7315200" h="1347216">
                <a:moveTo>
                  <a:pt x="0" y="0"/>
                </a:moveTo>
                <a:lnTo>
                  <a:pt x="7315200" y="0"/>
                </a:lnTo>
                <a:lnTo>
                  <a:pt x="7315200" y="1347216"/>
                </a:lnTo>
                <a:lnTo>
                  <a:pt x="0" y="13472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972497" y="1152525"/>
            <a:ext cx="10471235" cy="125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TRIGGER LOGIC EXAMPLE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21870" y="2402320"/>
            <a:ext cx="11921863" cy="688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0"/>
              </a:lnSpc>
              <a:spcBef>
                <a:spcPct val="0"/>
              </a:spcBef>
            </a:pPr>
            <a:r>
              <a:rPr lang="en-US" sz="2172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CREATE </a:t>
            </a:r>
            <a:r>
              <a:rPr lang="en-US" sz="2172">
                <a:solidFill>
                  <a:srgbClr val="F7C613"/>
                </a:solidFill>
                <a:latin typeface="Codec Pro"/>
                <a:ea typeface="Codec Pro"/>
                <a:cs typeface="Codec Pro"/>
                <a:sym typeface="Codec Pro"/>
              </a:rPr>
              <a:t>TRIGGER</a:t>
            </a:r>
            <a:r>
              <a:rPr lang="en-US" sz="2172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 PREVENT_DOUBLE_BOOKING</a:t>
            </a:r>
          </a:p>
          <a:p>
            <a:pPr algn="l">
              <a:lnSpc>
                <a:spcPts val="2280"/>
              </a:lnSpc>
              <a:spcBef>
                <a:spcPct val="0"/>
              </a:spcBef>
            </a:pPr>
            <a:r>
              <a:rPr lang="en-US" sz="2172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BEFORE INSERT ON APPOINTMENT</a:t>
            </a:r>
          </a:p>
          <a:p>
            <a:pPr algn="l">
              <a:lnSpc>
                <a:spcPts val="2280"/>
              </a:lnSpc>
              <a:spcBef>
                <a:spcPct val="0"/>
              </a:spcBef>
            </a:pPr>
            <a:r>
              <a:rPr lang="en-US" sz="2172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FOR EACH ROW</a:t>
            </a:r>
          </a:p>
          <a:p>
            <a:pPr algn="l">
              <a:lnSpc>
                <a:spcPts val="2280"/>
              </a:lnSpc>
              <a:spcBef>
                <a:spcPct val="0"/>
              </a:spcBef>
            </a:pPr>
            <a:endParaRPr lang="en-US" sz="2172">
              <a:solidFill>
                <a:srgbClr val="0071B3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l">
              <a:lnSpc>
                <a:spcPts val="2280"/>
              </a:lnSpc>
              <a:spcBef>
                <a:spcPct val="0"/>
              </a:spcBef>
            </a:pPr>
            <a:r>
              <a:rPr lang="en-US" sz="2172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BEGIN</a:t>
            </a:r>
          </a:p>
          <a:p>
            <a:pPr algn="l">
              <a:lnSpc>
                <a:spcPts val="2280"/>
              </a:lnSpc>
              <a:spcBef>
                <a:spcPct val="0"/>
              </a:spcBef>
            </a:pPr>
            <a:endParaRPr lang="en-US" sz="2172">
              <a:solidFill>
                <a:srgbClr val="0071B3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l">
              <a:lnSpc>
                <a:spcPts val="2280"/>
              </a:lnSpc>
              <a:spcBef>
                <a:spcPct val="0"/>
              </a:spcBef>
            </a:pPr>
            <a:r>
              <a:rPr lang="en-US" sz="2172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SELECT </a:t>
            </a:r>
            <a:r>
              <a:rPr lang="en-US" sz="2172">
                <a:solidFill>
                  <a:srgbClr val="F7C613"/>
                </a:solidFill>
                <a:latin typeface="Codec Pro"/>
                <a:ea typeface="Codec Pro"/>
                <a:cs typeface="Codec Pro"/>
                <a:sym typeface="Codec Pro"/>
              </a:rPr>
              <a:t>COUNT(*) </a:t>
            </a:r>
            <a:r>
              <a:rPr lang="en-US" sz="2172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INTO conflict_count</a:t>
            </a:r>
          </a:p>
          <a:p>
            <a:pPr algn="l">
              <a:lnSpc>
                <a:spcPts val="2280"/>
              </a:lnSpc>
              <a:spcBef>
                <a:spcPct val="0"/>
              </a:spcBef>
            </a:pPr>
            <a:r>
              <a:rPr lang="en-US" sz="2172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FROM Appointment</a:t>
            </a:r>
          </a:p>
          <a:p>
            <a:pPr algn="l">
              <a:lnSpc>
                <a:spcPts val="2280"/>
              </a:lnSpc>
              <a:spcBef>
                <a:spcPct val="0"/>
              </a:spcBef>
            </a:pPr>
            <a:r>
              <a:rPr lang="en-US" sz="2172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WHERE doctor_id = </a:t>
            </a:r>
            <a:r>
              <a:rPr lang="en-US" sz="2172">
                <a:solidFill>
                  <a:srgbClr val="F7C613"/>
                </a:solidFill>
                <a:latin typeface="Codec Pro"/>
                <a:ea typeface="Codec Pro"/>
                <a:cs typeface="Codec Pro"/>
                <a:sym typeface="Codec Pro"/>
              </a:rPr>
              <a:t>NEW.doctor_id</a:t>
            </a:r>
          </a:p>
          <a:p>
            <a:pPr algn="l">
              <a:lnSpc>
                <a:spcPts val="2280"/>
              </a:lnSpc>
              <a:spcBef>
                <a:spcPct val="0"/>
              </a:spcBef>
            </a:pPr>
            <a:r>
              <a:rPr lang="en-US" sz="2172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AND appt_date = NEW.appt_date </a:t>
            </a:r>
          </a:p>
          <a:p>
            <a:pPr algn="l">
              <a:lnSpc>
                <a:spcPts val="2280"/>
              </a:lnSpc>
              <a:spcBef>
                <a:spcPct val="0"/>
              </a:spcBef>
            </a:pPr>
            <a:r>
              <a:rPr lang="en-US" sz="2172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AND (</a:t>
            </a:r>
          </a:p>
          <a:p>
            <a:pPr algn="l">
              <a:lnSpc>
                <a:spcPts val="2280"/>
              </a:lnSpc>
              <a:spcBef>
                <a:spcPct val="0"/>
              </a:spcBef>
            </a:pPr>
            <a:r>
              <a:rPr lang="en-US" sz="2172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 (NEW.start_time BETWEEN start_time AND end_time) OR</a:t>
            </a:r>
          </a:p>
          <a:p>
            <a:pPr algn="l">
              <a:lnSpc>
                <a:spcPts val="2280"/>
              </a:lnSpc>
              <a:spcBef>
                <a:spcPct val="0"/>
              </a:spcBef>
            </a:pPr>
            <a:r>
              <a:rPr lang="en-US" sz="2172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 (NEW.end_time BETWEEN start_time AND end_time) OR</a:t>
            </a:r>
          </a:p>
          <a:p>
            <a:pPr algn="l">
              <a:lnSpc>
                <a:spcPts val="2280"/>
              </a:lnSpc>
              <a:spcBef>
                <a:spcPct val="0"/>
              </a:spcBef>
            </a:pPr>
            <a:r>
              <a:rPr lang="en-US" sz="2172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 (start_time BETWEEN NEW.start_time AND NEW.end_time)</a:t>
            </a:r>
          </a:p>
          <a:p>
            <a:pPr algn="l">
              <a:lnSpc>
                <a:spcPts val="2280"/>
              </a:lnSpc>
              <a:spcBef>
                <a:spcPct val="0"/>
              </a:spcBef>
            </a:pPr>
            <a:r>
              <a:rPr lang="en-US" sz="2172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 );</a:t>
            </a:r>
          </a:p>
          <a:p>
            <a:pPr algn="l">
              <a:lnSpc>
                <a:spcPts val="2280"/>
              </a:lnSpc>
              <a:spcBef>
                <a:spcPct val="0"/>
              </a:spcBef>
            </a:pPr>
            <a:endParaRPr lang="en-US" sz="2172">
              <a:solidFill>
                <a:srgbClr val="0071B3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l">
              <a:lnSpc>
                <a:spcPts val="2280"/>
              </a:lnSpc>
              <a:spcBef>
                <a:spcPct val="0"/>
              </a:spcBef>
            </a:pPr>
            <a:endParaRPr lang="en-US" sz="2172">
              <a:solidFill>
                <a:srgbClr val="0071B3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l">
              <a:lnSpc>
                <a:spcPts val="2280"/>
              </a:lnSpc>
              <a:spcBef>
                <a:spcPct val="0"/>
              </a:spcBef>
            </a:pPr>
            <a:r>
              <a:rPr lang="en-US" sz="2172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IF conflict_count &gt; 0 THEN</a:t>
            </a:r>
          </a:p>
          <a:p>
            <a:pPr algn="l">
              <a:lnSpc>
                <a:spcPts val="2280"/>
              </a:lnSpc>
              <a:spcBef>
                <a:spcPct val="0"/>
              </a:spcBef>
            </a:pPr>
            <a:r>
              <a:rPr lang="en-US" sz="2172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    </a:t>
            </a:r>
            <a:r>
              <a:rPr lang="en-US" sz="2172">
                <a:solidFill>
                  <a:srgbClr val="F7C613"/>
                </a:solidFill>
                <a:latin typeface="Codec Pro"/>
                <a:ea typeface="Codec Pro"/>
                <a:cs typeface="Codec Pro"/>
                <a:sym typeface="Codec Pro"/>
              </a:rPr>
              <a:t>SIGNAL</a:t>
            </a:r>
            <a:r>
              <a:rPr lang="en-US" sz="2172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 SQLSTATE '45000'</a:t>
            </a:r>
          </a:p>
          <a:p>
            <a:pPr algn="l">
              <a:lnSpc>
                <a:spcPts val="2280"/>
              </a:lnSpc>
              <a:spcBef>
                <a:spcPct val="0"/>
              </a:spcBef>
            </a:pPr>
            <a:r>
              <a:rPr lang="en-US" sz="2172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    SET MESSAGE_TEXT = </a:t>
            </a:r>
          </a:p>
          <a:p>
            <a:pPr algn="l">
              <a:lnSpc>
                <a:spcPts val="2280"/>
              </a:lnSpc>
              <a:spcBef>
                <a:spcPct val="0"/>
              </a:spcBef>
            </a:pPr>
            <a:r>
              <a:rPr lang="en-US" sz="2172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    'Doctor already has an appointment';</a:t>
            </a:r>
          </a:p>
          <a:p>
            <a:pPr algn="l">
              <a:lnSpc>
                <a:spcPts val="2280"/>
              </a:lnSpc>
              <a:spcBef>
                <a:spcPct val="0"/>
              </a:spcBef>
            </a:pPr>
            <a:r>
              <a:rPr lang="en-US" sz="2172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END IF;</a:t>
            </a:r>
          </a:p>
          <a:p>
            <a:pPr algn="l">
              <a:lnSpc>
                <a:spcPts val="2280"/>
              </a:lnSpc>
              <a:spcBef>
                <a:spcPct val="0"/>
              </a:spcBef>
            </a:pPr>
            <a:endParaRPr lang="en-US" sz="2172">
              <a:solidFill>
                <a:srgbClr val="0071B3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l">
              <a:lnSpc>
                <a:spcPts val="2280"/>
              </a:lnSpc>
              <a:spcBef>
                <a:spcPct val="0"/>
              </a:spcBef>
            </a:pPr>
            <a:r>
              <a:rPr lang="en-US" sz="2172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END;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5091664" y="-2196731"/>
            <a:ext cx="4490914" cy="4114800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4490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90914" y="0"/>
                </a:lnTo>
                <a:lnTo>
                  <a:pt x="4490914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8939784"/>
            <a:ext cx="7315200" cy="1347216"/>
          </a:xfrm>
          <a:custGeom>
            <a:avLst/>
            <a:gdLst/>
            <a:ahLst/>
            <a:cxnLst/>
            <a:rect l="l" t="t" r="r" b="b"/>
            <a:pathLst>
              <a:path w="7315200" h="1347216">
                <a:moveTo>
                  <a:pt x="0" y="0"/>
                </a:moveTo>
                <a:lnTo>
                  <a:pt x="7315200" y="0"/>
                </a:lnTo>
                <a:lnTo>
                  <a:pt x="7315200" y="1347216"/>
                </a:lnTo>
                <a:lnTo>
                  <a:pt x="0" y="13472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658662" y="5143500"/>
            <a:ext cx="9629338" cy="5055403"/>
          </a:xfrm>
          <a:custGeom>
            <a:avLst/>
            <a:gdLst/>
            <a:ahLst/>
            <a:cxnLst/>
            <a:rect l="l" t="t" r="r" b="b"/>
            <a:pathLst>
              <a:path w="9629338" h="5055403">
                <a:moveTo>
                  <a:pt x="0" y="0"/>
                </a:moveTo>
                <a:lnTo>
                  <a:pt x="9629338" y="0"/>
                </a:lnTo>
                <a:lnTo>
                  <a:pt x="9629338" y="5055403"/>
                </a:lnTo>
                <a:lnTo>
                  <a:pt x="0" y="50554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972497" y="1152525"/>
            <a:ext cx="10471235" cy="125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TRIGGER LOGIC EXAMPLE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8791" y="2465007"/>
            <a:ext cx="9067368" cy="4859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2606" b="1">
                <a:solidFill>
                  <a:srgbClr val="F7C61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HOW IT WORKS</a:t>
            </a:r>
          </a:p>
          <a:p>
            <a:pPr algn="l">
              <a:lnSpc>
                <a:spcPts val="2736"/>
              </a:lnSpc>
            </a:pPr>
            <a:endParaRPr lang="en-US" sz="2606" b="1">
              <a:solidFill>
                <a:srgbClr val="F7C613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  <a:p>
            <a:pPr marL="562759" lvl="1" indent="-281380" algn="l">
              <a:lnSpc>
                <a:spcPts val="2736"/>
              </a:lnSpc>
              <a:buFont typeface="Arial"/>
              <a:buChar char="•"/>
            </a:pPr>
            <a:r>
              <a:rPr lang="en-US" sz="2606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CHECKS EXISTING APPOINTMENTS FOR THE SAME DOCTOR</a:t>
            </a:r>
          </a:p>
          <a:p>
            <a:pPr marL="562759" lvl="1" indent="-281380" algn="l">
              <a:lnSpc>
                <a:spcPts val="2736"/>
              </a:lnSpc>
              <a:buFont typeface="Arial"/>
              <a:buChar char="•"/>
            </a:pPr>
            <a:r>
              <a:rPr lang="en-US" sz="2606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DETECTS SCHEDULING CONFLICTS AUTOMATICALLY</a:t>
            </a:r>
          </a:p>
          <a:p>
            <a:pPr marL="562759" lvl="1" indent="-281380" algn="l">
              <a:lnSpc>
                <a:spcPts val="2736"/>
              </a:lnSpc>
              <a:buFont typeface="Arial"/>
              <a:buChar char="•"/>
            </a:pPr>
            <a:r>
              <a:rPr lang="en-US" sz="2606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PREVENTS DUPLICATE BOOKINGS BEFORE INSERTION</a:t>
            </a:r>
          </a:p>
          <a:p>
            <a:pPr marL="562759" lvl="1" indent="-281380" algn="l">
              <a:lnSpc>
                <a:spcPts val="2736"/>
              </a:lnSpc>
              <a:buFont typeface="Arial"/>
              <a:buChar char="•"/>
            </a:pPr>
            <a:r>
              <a:rPr lang="en-US" sz="2606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DISPLAYS AN ERROR MESSAGE IF CONFLICT EXISTS</a:t>
            </a:r>
          </a:p>
          <a:p>
            <a:pPr algn="l">
              <a:lnSpc>
                <a:spcPts val="2736"/>
              </a:lnSpc>
            </a:pPr>
            <a:endParaRPr lang="en-US" sz="2606">
              <a:solidFill>
                <a:srgbClr val="0071B3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l">
              <a:lnSpc>
                <a:spcPts val="2736"/>
              </a:lnSpc>
            </a:pPr>
            <a:r>
              <a:rPr lang="en-US" sz="2606" b="1">
                <a:solidFill>
                  <a:srgbClr val="F7C61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EXAMPLE SCENARIO</a:t>
            </a:r>
          </a:p>
          <a:p>
            <a:pPr algn="l">
              <a:lnSpc>
                <a:spcPts val="2736"/>
              </a:lnSpc>
            </a:pPr>
            <a:endParaRPr lang="en-US" sz="2606" b="1">
              <a:solidFill>
                <a:srgbClr val="F7C613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  <a:p>
            <a:pPr marL="562759" lvl="1" indent="-281380" algn="l">
              <a:lnSpc>
                <a:spcPts val="2736"/>
              </a:lnSpc>
              <a:buFont typeface="Arial"/>
              <a:buChar char="•"/>
            </a:pPr>
            <a:r>
              <a:rPr lang="en-US" sz="2606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DR. AHMED HAS APPOINTMENT AT 9:00 PM</a:t>
            </a:r>
          </a:p>
          <a:p>
            <a:pPr marL="562759" lvl="1" indent="-281380" algn="l">
              <a:lnSpc>
                <a:spcPts val="2736"/>
              </a:lnSpc>
              <a:buFont typeface="Arial"/>
              <a:buChar char="•"/>
            </a:pPr>
            <a:r>
              <a:rPr lang="en-US" sz="2606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ANOTHER PATIENT BOOKS AT THE SAME TIME</a:t>
            </a:r>
          </a:p>
          <a:p>
            <a:pPr marL="562759" lvl="1" indent="-281380" algn="l">
              <a:lnSpc>
                <a:spcPts val="2736"/>
              </a:lnSpc>
              <a:buFont typeface="Arial"/>
              <a:buChar char="•"/>
            </a:pPr>
            <a:r>
              <a:rPr lang="en-US" sz="2606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TRIGGER BLOCKS THE NEW APPOINTMENT AUTOMATICALLY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260830" y="9699275"/>
            <a:ext cx="2399348" cy="429578"/>
            <a:chOff x="0" y="0"/>
            <a:chExt cx="3199130" cy="572770"/>
          </a:xfrm>
        </p:grpSpPr>
        <p:sp>
          <p:nvSpPr>
            <p:cNvPr id="9" name="Freeform 9"/>
            <p:cNvSpPr/>
            <p:nvPr/>
          </p:nvSpPr>
          <p:spPr>
            <a:xfrm>
              <a:off x="22013" y="50800"/>
              <a:ext cx="3179657" cy="479225"/>
            </a:xfrm>
            <a:custGeom>
              <a:avLst/>
              <a:gdLst/>
              <a:ahLst/>
              <a:cxnLst/>
              <a:rect l="l" t="t" r="r" b="b"/>
              <a:pathLst>
                <a:path w="3179657" h="479225">
                  <a:moveTo>
                    <a:pt x="28787" y="0"/>
                  </a:moveTo>
                  <a:cubicBezTo>
                    <a:pt x="723477" y="8890"/>
                    <a:pt x="1507067" y="68580"/>
                    <a:pt x="1908387" y="77470"/>
                  </a:cubicBezTo>
                  <a:cubicBezTo>
                    <a:pt x="2170007" y="82550"/>
                    <a:pt x="2350347" y="81280"/>
                    <a:pt x="2559897" y="73660"/>
                  </a:cubicBezTo>
                  <a:cubicBezTo>
                    <a:pt x="2755477" y="66040"/>
                    <a:pt x="3039957" y="-44450"/>
                    <a:pt x="3126317" y="35560"/>
                  </a:cubicBezTo>
                  <a:cubicBezTo>
                    <a:pt x="3197437" y="102870"/>
                    <a:pt x="3197437" y="353060"/>
                    <a:pt x="3126317" y="429260"/>
                  </a:cubicBezTo>
                  <a:cubicBezTo>
                    <a:pt x="3041227" y="519430"/>
                    <a:pt x="2764367" y="458470"/>
                    <a:pt x="2571327" y="466090"/>
                  </a:cubicBezTo>
                  <a:cubicBezTo>
                    <a:pt x="2359237" y="473710"/>
                    <a:pt x="2172547" y="476250"/>
                    <a:pt x="1907117" y="471170"/>
                  </a:cubicBezTo>
                  <a:cubicBezTo>
                    <a:pt x="1504527" y="462280"/>
                    <a:pt x="723477" y="400050"/>
                    <a:pt x="392007" y="393700"/>
                  </a:cubicBezTo>
                  <a:cubicBezTo>
                    <a:pt x="229447" y="391160"/>
                    <a:pt x="91017" y="458470"/>
                    <a:pt x="28787" y="397510"/>
                  </a:cubicBezTo>
                  <a:cubicBezTo>
                    <a:pt x="-35983" y="334010"/>
                    <a:pt x="28787" y="0"/>
                    <a:pt x="28787" y="0"/>
                  </a:cubicBezTo>
                </a:path>
              </a:pathLst>
            </a:custGeom>
            <a:solidFill>
              <a:srgbClr val="FFF234">
                <a:alpha val="13333"/>
              </a:srgbClr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5091664" y="-2196731"/>
            <a:ext cx="4490914" cy="4114800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4490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90914" y="0"/>
                </a:lnTo>
                <a:lnTo>
                  <a:pt x="4490914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8939784"/>
            <a:ext cx="7315200" cy="1347216"/>
          </a:xfrm>
          <a:custGeom>
            <a:avLst/>
            <a:gdLst/>
            <a:ahLst/>
            <a:cxnLst/>
            <a:rect l="l" t="t" r="r" b="b"/>
            <a:pathLst>
              <a:path w="7315200" h="1347216">
                <a:moveTo>
                  <a:pt x="0" y="0"/>
                </a:moveTo>
                <a:lnTo>
                  <a:pt x="7315200" y="0"/>
                </a:lnTo>
                <a:lnTo>
                  <a:pt x="7315200" y="1347216"/>
                </a:lnTo>
                <a:lnTo>
                  <a:pt x="0" y="13472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154708" y="1152525"/>
            <a:ext cx="11936956" cy="125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GRAPHICAL USER INTERFACE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83300" y="3626810"/>
            <a:ext cx="13121399" cy="1094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2"/>
              </a:lnSpc>
            </a:pPr>
            <a:r>
              <a:rPr lang="en-US" sz="3451" spc="1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Demonstration of the Clinic Management System interface and functionality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3" name="Picture 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48189" y="3676398"/>
            <a:ext cx="12591622" cy="6610602"/>
          </a:xfrm>
          <a:custGeom>
            <a:avLst/>
            <a:gdLst/>
            <a:ahLst/>
            <a:cxnLst/>
            <a:rect l="l" t="t" r="r" b="b"/>
            <a:pathLst>
              <a:path w="12591622" h="6610602">
                <a:moveTo>
                  <a:pt x="0" y="0"/>
                </a:moveTo>
                <a:lnTo>
                  <a:pt x="12591622" y="0"/>
                </a:lnTo>
                <a:lnTo>
                  <a:pt x="12591622" y="6610602"/>
                </a:lnTo>
                <a:lnTo>
                  <a:pt x="0" y="66106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235259" y="1152525"/>
            <a:ext cx="13817481" cy="125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QUESTION 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83300" y="2354695"/>
            <a:ext cx="13121399" cy="1094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2"/>
              </a:lnSpc>
            </a:pPr>
            <a:r>
              <a:rPr lang="en-US" sz="3451" spc="17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prevent two appointments for the same doctor from overlapping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64315" y="3693331"/>
            <a:ext cx="12559370" cy="6593669"/>
          </a:xfrm>
          <a:custGeom>
            <a:avLst/>
            <a:gdLst/>
            <a:ahLst/>
            <a:cxnLst/>
            <a:rect l="l" t="t" r="r" b="b"/>
            <a:pathLst>
              <a:path w="12559370" h="6593669">
                <a:moveTo>
                  <a:pt x="0" y="0"/>
                </a:moveTo>
                <a:lnTo>
                  <a:pt x="12559370" y="0"/>
                </a:lnTo>
                <a:lnTo>
                  <a:pt x="12559370" y="6593669"/>
                </a:lnTo>
                <a:lnTo>
                  <a:pt x="0" y="65936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235259" y="1152525"/>
            <a:ext cx="13817481" cy="125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QUESTION 1 - RESULT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83300" y="2354695"/>
            <a:ext cx="13121399" cy="1094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2"/>
              </a:lnSpc>
            </a:pPr>
            <a:r>
              <a:rPr lang="en-US" sz="3451" spc="17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prevent two appointments for the same doctor from overlapping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108445" y="3494079"/>
            <a:ext cx="12071110" cy="6337333"/>
          </a:xfrm>
          <a:custGeom>
            <a:avLst/>
            <a:gdLst/>
            <a:ahLst/>
            <a:cxnLst/>
            <a:rect l="l" t="t" r="r" b="b"/>
            <a:pathLst>
              <a:path w="12071110" h="6337333">
                <a:moveTo>
                  <a:pt x="0" y="0"/>
                </a:moveTo>
                <a:lnTo>
                  <a:pt x="12071110" y="0"/>
                </a:lnTo>
                <a:lnTo>
                  <a:pt x="12071110" y="6337333"/>
                </a:lnTo>
                <a:lnTo>
                  <a:pt x="0" y="63373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235259" y="1152525"/>
            <a:ext cx="13817481" cy="125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QUESTION 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83300" y="2354695"/>
            <a:ext cx="13121399" cy="580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2"/>
              </a:lnSpc>
            </a:pPr>
            <a:r>
              <a:rPr lang="en-US" sz="3451" spc="17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Description for query to fetch each patient’s plus their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493371" y="3150985"/>
            <a:ext cx="11301259" cy="5933161"/>
          </a:xfrm>
          <a:custGeom>
            <a:avLst/>
            <a:gdLst/>
            <a:ahLst/>
            <a:cxnLst/>
            <a:rect l="l" t="t" r="r" b="b"/>
            <a:pathLst>
              <a:path w="11301259" h="5933161">
                <a:moveTo>
                  <a:pt x="0" y="0"/>
                </a:moveTo>
                <a:lnTo>
                  <a:pt x="11301258" y="0"/>
                </a:lnTo>
                <a:lnTo>
                  <a:pt x="11301258" y="5933161"/>
                </a:lnTo>
                <a:lnTo>
                  <a:pt x="0" y="59331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235259" y="1152525"/>
            <a:ext cx="13817481" cy="125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QUESTION 2 - RESULT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83300" y="2354695"/>
            <a:ext cx="13121399" cy="580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2"/>
              </a:lnSpc>
            </a:pPr>
            <a:r>
              <a:rPr lang="en-US" sz="3451" spc="17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Description for query to fetch each patient’s plus their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35259" y="1152525"/>
            <a:ext cx="13817481" cy="125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QUESTION 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583300" y="2354695"/>
            <a:ext cx="13121399" cy="1094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2"/>
              </a:lnSpc>
            </a:pPr>
            <a:r>
              <a:rPr lang="en-US" sz="3451" spc="17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view for showing each doctor’s upcoming appointment count for next month</a:t>
            </a:r>
          </a:p>
        </p:txBody>
      </p:sp>
      <p:sp>
        <p:nvSpPr>
          <p:cNvPr id="5" name="Freeform 5"/>
          <p:cNvSpPr/>
          <p:nvPr/>
        </p:nvSpPr>
        <p:spPr>
          <a:xfrm>
            <a:off x="3307955" y="3449312"/>
            <a:ext cx="11672090" cy="6127847"/>
          </a:xfrm>
          <a:custGeom>
            <a:avLst/>
            <a:gdLst/>
            <a:ahLst/>
            <a:cxnLst/>
            <a:rect l="l" t="t" r="r" b="b"/>
            <a:pathLst>
              <a:path w="11672090" h="6127847">
                <a:moveTo>
                  <a:pt x="0" y="0"/>
                </a:moveTo>
                <a:lnTo>
                  <a:pt x="11672090" y="0"/>
                </a:lnTo>
                <a:lnTo>
                  <a:pt x="11672090" y="6127848"/>
                </a:lnTo>
                <a:lnTo>
                  <a:pt x="0" y="61278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35259" y="1152525"/>
            <a:ext cx="13817481" cy="125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QUESTION 3 - RESULT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583300" y="2354695"/>
            <a:ext cx="13121399" cy="1094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2"/>
              </a:lnSpc>
            </a:pPr>
            <a:r>
              <a:rPr lang="en-US" sz="3451" spc="17">
                <a:solidFill>
                  <a:srgbClr val="005990"/>
                </a:solidFill>
                <a:latin typeface="Codec Pro"/>
                <a:ea typeface="Codec Pro"/>
                <a:cs typeface="Codec Pro"/>
                <a:sym typeface="Codec Pro"/>
              </a:rPr>
              <a:t>view for showing each doctor’s upcoming appointment count for next month</a:t>
            </a:r>
          </a:p>
        </p:txBody>
      </p:sp>
      <p:sp>
        <p:nvSpPr>
          <p:cNvPr id="5" name="Freeform 5"/>
          <p:cNvSpPr/>
          <p:nvPr/>
        </p:nvSpPr>
        <p:spPr>
          <a:xfrm>
            <a:off x="3279014" y="3362369"/>
            <a:ext cx="11729972" cy="6158235"/>
          </a:xfrm>
          <a:custGeom>
            <a:avLst/>
            <a:gdLst/>
            <a:ahLst/>
            <a:cxnLst/>
            <a:rect l="l" t="t" r="r" b="b"/>
            <a:pathLst>
              <a:path w="11729972" h="6158235">
                <a:moveTo>
                  <a:pt x="0" y="0"/>
                </a:moveTo>
                <a:lnTo>
                  <a:pt x="11729972" y="0"/>
                </a:lnTo>
                <a:lnTo>
                  <a:pt x="11729972" y="6158235"/>
                </a:lnTo>
                <a:lnTo>
                  <a:pt x="0" y="61582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5091664" y="-2196731"/>
            <a:ext cx="4490914" cy="4114800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4490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90914" y="0"/>
                </a:lnTo>
                <a:lnTo>
                  <a:pt x="4490914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8939784"/>
            <a:ext cx="7315200" cy="1347216"/>
          </a:xfrm>
          <a:custGeom>
            <a:avLst/>
            <a:gdLst/>
            <a:ahLst/>
            <a:cxnLst/>
            <a:rect l="l" t="t" r="r" b="b"/>
            <a:pathLst>
              <a:path w="7315200" h="1347216">
                <a:moveTo>
                  <a:pt x="0" y="0"/>
                </a:moveTo>
                <a:lnTo>
                  <a:pt x="7315200" y="0"/>
                </a:lnTo>
                <a:lnTo>
                  <a:pt x="7315200" y="1347216"/>
                </a:lnTo>
                <a:lnTo>
                  <a:pt x="0" y="13472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096944" y="1152525"/>
            <a:ext cx="5568712" cy="125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561"/>
              </a:lnSpc>
            </a:pPr>
            <a:r>
              <a:rPr lang="en-US" sz="9106">
                <a:solidFill>
                  <a:srgbClr val="005990"/>
                </a:solidFill>
                <a:latin typeface="Anton"/>
                <a:ea typeface="Anton"/>
                <a:cs typeface="Anton"/>
                <a:sym typeface="Anton"/>
              </a:rPr>
              <a:t>CONCLUSION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6193" y="2789708"/>
            <a:ext cx="13678013" cy="6554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33715" lvl="1" indent="-466857" algn="l">
              <a:lnSpc>
                <a:spcPts val="5103"/>
              </a:lnSpc>
              <a:buFont typeface="Arial"/>
              <a:buChar char="•"/>
            </a:pPr>
            <a:r>
              <a:rPr lang="en-US" sz="4324" spc="21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Developed a clinic management system using Python and MySQL</a:t>
            </a:r>
          </a:p>
          <a:p>
            <a:pPr marL="933715" lvl="1" indent="-466857" algn="l">
              <a:lnSpc>
                <a:spcPts val="5103"/>
              </a:lnSpc>
              <a:buFont typeface="Arial"/>
              <a:buChar char="•"/>
            </a:pPr>
            <a:r>
              <a:rPr lang="en-US" sz="4324" spc="21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Implemented database tables, SQL queries, and GUI interface</a:t>
            </a:r>
          </a:p>
          <a:p>
            <a:pPr marL="933715" lvl="1" indent="-466857" algn="l">
              <a:lnSpc>
                <a:spcPts val="5103"/>
              </a:lnSpc>
              <a:buFont typeface="Arial"/>
              <a:buChar char="•"/>
            </a:pPr>
            <a:r>
              <a:rPr lang="en-US" sz="4324" spc="21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Managed patient records and appointments efficiently</a:t>
            </a:r>
          </a:p>
          <a:p>
            <a:pPr marL="933715" lvl="1" indent="-466857" algn="l">
              <a:lnSpc>
                <a:spcPts val="5103"/>
              </a:lnSpc>
              <a:buFont typeface="Arial"/>
              <a:buChar char="•"/>
            </a:pPr>
            <a:r>
              <a:rPr lang="en-US" sz="4324" spc="21">
                <a:solidFill>
                  <a:srgbClr val="0071B3"/>
                </a:solidFill>
                <a:latin typeface="Codec Pro"/>
                <a:ea typeface="Codec Pro"/>
                <a:cs typeface="Codec Pro"/>
                <a:sym typeface="Codec Pro"/>
              </a:rPr>
              <a:t>Improved data organization and usability through the system</a:t>
            </a:r>
          </a:p>
          <a:p>
            <a:pPr algn="l">
              <a:lnSpc>
                <a:spcPts val="5103"/>
              </a:lnSpc>
            </a:pPr>
            <a:endParaRPr lang="en-US" sz="4324" spc="21">
              <a:solidFill>
                <a:srgbClr val="0071B3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l">
              <a:lnSpc>
                <a:spcPts val="5103"/>
              </a:lnSpc>
            </a:pPr>
            <a:endParaRPr lang="en-US" sz="4324" spc="21">
              <a:solidFill>
                <a:srgbClr val="0071B3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181930" y="-1424914"/>
            <a:ext cx="8483403" cy="11741734"/>
          </a:xfrm>
          <a:custGeom>
            <a:avLst/>
            <a:gdLst/>
            <a:ahLst/>
            <a:cxnLst/>
            <a:rect l="l" t="t" r="r" b="b"/>
            <a:pathLst>
              <a:path w="8483403" h="11741734">
                <a:moveTo>
                  <a:pt x="0" y="0"/>
                </a:moveTo>
                <a:lnTo>
                  <a:pt x="8483402" y="0"/>
                </a:lnTo>
                <a:lnTo>
                  <a:pt x="8483402" y="11741734"/>
                </a:lnTo>
                <a:lnTo>
                  <a:pt x="0" y="11741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460558" y="3783770"/>
            <a:ext cx="8367331" cy="2308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10"/>
              </a:lnSpc>
            </a:pPr>
            <a:r>
              <a:rPr lang="en-US" sz="16676">
                <a:solidFill>
                  <a:srgbClr val="0C3877"/>
                </a:solidFill>
                <a:latin typeface="Anton"/>
                <a:ea typeface="Anton"/>
                <a:cs typeface="Anton"/>
                <a:sym typeface="Anton"/>
              </a:rPr>
              <a:t>THANKYOU</a:t>
            </a:r>
          </a:p>
        </p:txBody>
      </p:sp>
      <p:sp>
        <p:nvSpPr>
          <p:cNvPr id="5" name="Freeform 5"/>
          <p:cNvSpPr/>
          <p:nvPr/>
        </p:nvSpPr>
        <p:spPr>
          <a:xfrm flipH="1" flipV="1">
            <a:off x="15244064" y="-2044331"/>
            <a:ext cx="4490914" cy="4114800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4490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90914" y="0"/>
                </a:lnTo>
                <a:lnTo>
                  <a:pt x="4490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841399" y="8069580"/>
            <a:ext cx="4490914" cy="4114800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4490914" y="0"/>
                </a:moveTo>
                <a:lnTo>
                  <a:pt x="0" y="0"/>
                </a:lnTo>
                <a:lnTo>
                  <a:pt x="0" y="4114800"/>
                </a:lnTo>
                <a:lnTo>
                  <a:pt x="4490914" y="4114800"/>
                </a:lnTo>
                <a:lnTo>
                  <a:pt x="449091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698</Words>
  <Application>Microsoft Office PowerPoint</Application>
  <PresentationFormat>Custom</PresentationFormat>
  <Paragraphs>160</Paragraphs>
  <Slides>26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Anton</vt:lpstr>
      <vt:lpstr>Codec Pro Bold</vt:lpstr>
      <vt:lpstr>Calibri</vt:lpstr>
      <vt:lpstr>Codec Pro</vt:lpstr>
      <vt:lpstr>Open Sans Bold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White Geometric Modern Thesis Defense Presentation </dc:title>
  <cp:lastModifiedBy>fatma mohamed elwarraky</cp:lastModifiedBy>
  <cp:revision>2</cp:revision>
  <dcterms:created xsi:type="dcterms:W3CDTF">2006-08-16T00:00:00Z</dcterms:created>
  <dcterms:modified xsi:type="dcterms:W3CDTF">2026-05-29T05:48:31Z</dcterms:modified>
  <dc:identifier>DAHHwoiezGg</dc:identifier>
</cp:coreProperties>
</file>